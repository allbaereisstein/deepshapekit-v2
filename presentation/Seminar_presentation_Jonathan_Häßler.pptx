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6" r:id="rId2"/>
    <p:sldId id="272" r:id="rId3"/>
    <p:sldId id="339" r:id="rId4"/>
    <p:sldId id="341" r:id="rId5"/>
    <p:sldId id="342" r:id="rId6"/>
    <p:sldId id="332" r:id="rId7"/>
    <p:sldId id="340" r:id="rId8"/>
    <p:sldId id="282" r:id="rId9"/>
    <p:sldId id="293" r:id="rId10"/>
    <p:sldId id="343" r:id="rId11"/>
    <p:sldId id="296" r:id="rId12"/>
    <p:sldId id="294" r:id="rId13"/>
    <p:sldId id="284" r:id="rId14"/>
    <p:sldId id="297" r:id="rId15"/>
    <p:sldId id="295" r:id="rId16"/>
    <p:sldId id="285" r:id="rId17"/>
    <p:sldId id="299" r:id="rId18"/>
    <p:sldId id="300" r:id="rId19"/>
    <p:sldId id="286" r:id="rId20"/>
    <p:sldId id="305" r:id="rId21"/>
    <p:sldId id="287" r:id="rId22"/>
    <p:sldId id="322" r:id="rId23"/>
    <p:sldId id="321" r:id="rId24"/>
    <p:sldId id="325" r:id="rId25"/>
    <p:sldId id="324" r:id="rId26"/>
    <p:sldId id="326" r:id="rId27"/>
    <p:sldId id="289" r:id="rId28"/>
    <p:sldId id="318" r:id="rId29"/>
    <p:sldId id="317" r:id="rId30"/>
    <p:sldId id="327" r:id="rId31"/>
    <p:sldId id="328" r:id="rId32"/>
    <p:sldId id="344" r:id="rId33"/>
    <p:sldId id="306" r:id="rId34"/>
    <p:sldId id="329" r:id="rId35"/>
    <p:sldId id="303" r:id="rId36"/>
    <p:sldId id="330" r:id="rId37"/>
    <p:sldId id="302" r:id="rId38"/>
    <p:sldId id="315" r:id="rId39"/>
    <p:sldId id="314" r:id="rId40"/>
    <p:sldId id="311" r:id="rId41"/>
    <p:sldId id="313" r:id="rId42"/>
    <p:sldId id="307" r:id="rId43"/>
    <p:sldId id="291" r:id="rId44"/>
    <p:sldId id="275" r:id="rId45"/>
    <p:sldId id="279" r:id="rId46"/>
    <p:sldId id="345" r:id="rId47"/>
    <p:sldId id="290" r:id="rId48"/>
    <p:sldId id="309" r:id="rId49"/>
    <p:sldId id="308" r:id="rId50"/>
    <p:sldId id="288" r:id="rId51"/>
    <p:sldId id="31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C7EB"/>
    <a:srgbClr val="FFFFFF"/>
    <a:srgbClr val="3E3E3E"/>
    <a:srgbClr val="B9DFEB"/>
    <a:srgbClr val="92CDE0"/>
    <a:srgbClr val="EF41E7"/>
    <a:srgbClr val="4EBCE0"/>
    <a:srgbClr val="D1F0FA"/>
    <a:srgbClr val="00A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4" autoAdjust="0"/>
    <p:restoredTop sz="88819" autoAdjust="0"/>
  </p:normalViewPr>
  <p:slideViewPr>
    <p:cSldViewPr>
      <p:cViewPr varScale="1">
        <p:scale>
          <a:sx n="73" d="100"/>
          <a:sy n="73" d="100"/>
        </p:scale>
        <p:origin x="85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A2B54-B1C4-4214-AD71-C37756DD6711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41549-308D-4353-B695-E4BBF3EFCE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9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2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,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fine</a:t>
            </a:r>
            <a:r>
              <a:rPr lang="de-DE" dirty="0"/>
              <a:t> but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reason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there‘s</a:t>
            </a:r>
            <a:r>
              <a:rPr lang="de-DE" dirty="0"/>
              <a:t> so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25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Note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3D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yet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89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 </a:t>
            </a:r>
            <a:r>
              <a:rPr lang="de-DE" dirty="0" err="1"/>
              <a:t>chose</a:t>
            </a:r>
            <a:r>
              <a:rPr lang="de-DE" dirty="0"/>
              <a:t> a frame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bottom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bends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clear</a:t>
            </a:r>
            <a:r>
              <a:rPr lang="de-DE" dirty="0"/>
              <a:t> but </a:t>
            </a:r>
            <a:r>
              <a:rPr lang="de-DE" dirty="0" err="1"/>
              <a:t>note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multiple </a:t>
            </a:r>
            <a:r>
              <a:rPr lang="de-DE" dirty="0" err="1"/>
              <a:t>views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reconstruction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5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parameterized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2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Dont</a:t>
            </a:r>
            <a:r>
              <a:rPr lang="de-DE" dirty="0"/>
              <a:t> </a:t>
            </a:r>
            <a:r>
              <a:rPr lang="de-DE" dirty="0" err="1"/>
              <a:t>spend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time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44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62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31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7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9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1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1549-308D-4353-B695-E4BBF3EFCE1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2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59EC4-3607-41B0-AA53-1A62897D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3977-7792-4286-8430-F0D454D40B2F}" type="datetime1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751D5-55F7-496A-B4AC-63898BA8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A476-6F48-40C8-8FFC-156AE146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34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505"/>
            <a:ext cx="7999086" cy="754804"/>
          </a:xfrm>
          <a:solidFill>
            <a:srgbClr val="59C7EB"/>
          </a:solidFill>
        </p:spPr>
        <p:txBody>
          <a:bodyPr wrap="none" lIns="108000" tIns="72000" rIns="108000" bIns="72000">
            <a:normAutofit/>
          </a:bodyPr>
          <a:lstStyle>
            <a:lvl1pPr>
              <a:defRPr b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2670C-6258-43DF-922B-0FF470C9312B}" type="datetime1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4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Underli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505"/>
            <a:ext cx="7999086" cy="754804"/>
          </a:xfrm>
          <a:noFill/>
          <a:ln>
            <a:noFill/>
          </a:ln>
        </p:spPr>
        <p:txBody>
          <a:bodyPr wrap="none" lIns="108000" tIns="72000" rIns="108000" bIns="72000">
            <a:normAutofit/>
          </a:bodyPr>
          <a:lstStyle>
            <a:lvl1pPr>
              <a:defRPr b="1" u="sng" baseline="0">
                <a:ln>
                  <a:noFill/>
                </a:ln>
                <a:solidFill>
                  <a:schemeClr val="tx1"/>
                </a:solidFill>
                <a:uFill>
                  <a:solidFill>
                    <a:srgbClr val="4EBCE0"/>
                  </a:solidFill>
                </a:u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991D3-6AC9-4304-BEB2-C8B19C09E458}" type="datetime1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505"/>
            <a:ext cx="7999086" cy="754804"/>
          </a:xfrm>
          <a:noFill/>
          <a:ln>
            <a:noFill/>
          </a:ln>
        </p:spPr>
        <p:txBody>
          <a:bodyPr wrap="none" lIns="108000" tIns="72000" rIns="108000" bIns="72000">
            <a:normAutofit/>
          </a:bodyPr>
          <a:lstStyle>
            <a:lvl1pPr>
              <a:defRPr b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81DD-F155-4B03-9A6E-79B2798B2D0A}" type="datetime1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4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505"/>
            <a:ext cx="7999086" cy="754804"/>
          </a:xfrm>
          <a:noFill/>
          <a:ln>
            <a:noFill/>
          </a:ln>
        </p:spPr>
        <p:txBody>
          <a:bodyPr wrap="none" lIns="108000" tIns="72000" rIns="108000" bIns="72000">
            <a:normAutofit/>
          </a:bodyPr>
          <a:lstStyle>
            <a:lvl1pPr>
              <a:defRPr b="1" u="none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Clr>
                <a:srgbClr val="4EBCE0"/>
              </a:buClr>
              <a:buFont typeface="Symbol" panose="05050102010706020507" pitchFamily="18" charset="2"/>
              <a:buNone/>
              <a:defRPr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/>
            </a:lvl2pPr>
            <a:lvl3pPr marL="1143000" indent="-228600">
              <a:buClr>
                <a:srgbClr val="4EBCE0"/>
              </a:buClr>
              <a:buFont typeface="Symbol" panose="05050102010706020507" pitchFamily="18" charset="2"/>
              <a:buNone/>
              <a:defRPr/>
            </a:lvl3pPr>
            <a:lvl4pPr marL="1600200" indent="-228600">
              <a:buClr>
                <a:srgbClr val="4EBCE0"/>
              </a:buClr>
              <a:buFont typeface="Symbol" panose="05050102010706020507" pitchFamily="18" charset="2"/>
              <a:buChar char="-"/>
              <a:defRPr/>
            </a:lvl4pPr>
            <a:lvl5pPr marL="2057400" indent="-228600">
              <a:buClr>
                <a:srgbClr val="4EBCE0"/>
              </a:buClr>
              <a:buFont typeface="Symbol" panose="05050102010706020507" pitchFamily="18" charset="2"/>
              <a:buChar char="-"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HK" dirty="0"/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HK" dirty="0"/>
              <a:t>	</a:t>
            </a:r>
            <a:r>
              <a:rPr lang="en-US" dirty="0"/>
              <a:t>Second level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Char char="-"/>
              <a:tabLst/>
              <a:defRPr/>
            </a:pPr>
            <a:endParaRPr lang="en-HK" dirty="0"/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7799-1071-40FF-8325-ABDBBC066B5C}" type="datetime1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2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F20A6-1F6F-4C8C-BBA2-14E1D684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90AD-0296-469A-B10B-13DFB78792AC}" type="datetime1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F23BDC-5086-4C87-814B-063066CD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88970-0658-4F14-8FB7-142AB834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AA2C77-DCC2-49CA-8E2E-1DD086FE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1F86-4009-41E4-9137-154C41928B51}" type="datetime1">
              <a:rPr lang="en-US" smtClean="0"/>
              <a:t>2/11/2024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3622B97-7D08-46D8-9A5D-7D505AE8A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C3DF51-020B-4648-AC3F-8302EA66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24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93C114-EBE7-4404-91C2-01FDC1AA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5DF8-0ECB-46B8-BABD-4B3DE4679FDD}" type="datetime1">
              <a:rPr lang="en-US" smtClean="0"/>
              <a:t>2/11/2024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93473A8-C628-4CDF-AB54-7167696B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A0B489-20FB-46E5-861C-56974A83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01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E2C614-0A09-42D1-B38B-E5CBCAD4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820D-E771-4437-8493-E5B63FE6A7C1}" type="datetime1">
              <a:rPr lang="en-US" smtClean="0"/>
              <a:t>2/11/2024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EB6D8C-88E0-452F-B44B-E530E3ED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7BE94D-B856-43B4-A2A5-EEA011C6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7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901C6-6180-44ED-89B0-E58AC811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9621-29B6-48C1-8A05-1653AC6BEDB0}" type="datetime1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5033F-AC04-4068-9A7B-B6FDB3F2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6C5D-8060-4A6A-9FD1-913BE671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49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5A04B95-A283-447F-9A42-8B2D4E46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CD6C-D72B-4BD1-8FC9-FDD6641CF929}" type="datetime1">
              <a:rPr lang="en-US" smtClean="0"/>
              <a:t>2/11/2024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260095-9B20-40DA-8B42-6FCDB822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2DAE80-2185-4FEF-96AA-92150449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529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F88D60A-C527-44B7-AAC0-37B47DA4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E33F-F21E-4F29-ABC3-20BA23FE24D3}" type="datetime1">
              <a:rPr lang="en-US" smtClean="0"/>
              <a:t>2/11/2024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11BDA92-6530-4391-A16F-858E5D0A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904378-035C-4508-BD73-B4DEAE3D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1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E69149-33F1-4421-9656-A8090F2A5273}" type="datetime1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E83824-0E2B-4B9F-B173-A6B08CE6E473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79400" y="6280150"/>
            <a:ext cx="11633200" cy="0"/>
          </a:xfrm>
          <a:prstGeom prst="line">
            <a:avLst/>
          </a:prstGeom>
          <a:ln w="31750">
            <a:solidFill>
              <a:srgbClr val="59C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6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15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gif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28.png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openxmlformats.org/officeDocument/2006/relationships/image" Target="../media/image16.jpeg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openxmlformats.org/officeDocument/2006/relationships/image" Target="../media/image16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15CECE43-C4D4-8B61-AA1B-45EF48B51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150" y="3365702"/>
            <a:ext cx="2416925" cy="714374"/>
          </a:xfrm>
          <a:solidFill>
            <a:srgbClr val="4EBCE0"/>
          </a:solidFill>
        </p:spPr>
        <p:txBody>
          <a:bodyPr>
            <a:noAutofit/>
          </a:bodyPr>
          <a:lstStyle/>
          <a:p>
            <a:pPr algn="l"/>
            <a:r>
              <a:rPr lang="en-US" sz="4400" b="1" dirty="0"/>
              <a:t>Seminar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74" y="4311852"/>
            <a:ext cx="8537575" cy="433388"/>
          </a:xfrm>
        </p:spPr>
        <p:txBody>
          <a:bodyPr>
            <a:noAutofit/>
          </a:bodyPr>
          <a:lstStyle/>
          <a:p>
            <a:pPr algn="l"/>
            <a:r>
              <a:rPr lang="de-DE" sz="2800" b="1" dirty="0">
                <a:solidFill>
                  <a:schemeClr val="bg1"/>
                </a:solidFill>
              </a:rPr>
              <a:t>Jonathan Häßler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33750" y="-1403350"/>
            <a:ext cx="565150" cy="457200"/>
          </a:xfrm>
          <a:prstGeom prst="rect">
            <a:avLst/>
          </a:prstGeom>
          <a:solidFill>
            <a:srgbClr val="92C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16400" y="-1435100"/>
            <a:ext cx="615950" cy="508000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11750" y="-1403350"/>
            <a:ext cx="781050" cy="5461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t="34722"/>
          <a:stretch/>
        </p:blipFill>
        <p:spPr>
          <a:xfrm>
            <a:off x="2908300" y="-1016000"/>
            <a:ext cx="3575050" cy="89535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81000" y="2641800"/>
            <a:ext cx="5225250" cy="714374"/>
          </a:xfrm>
          <a:prstGeom prst="rect">
            <a:avLst/>
          </a:prstGeom>
          <a:solidFill>
            <a:srgbClr val="92CDE0">
              <a:alpha val="64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4800" b="1" dirty="0"/>
              <a:t>of swimming fish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40" y="4900816"/>
            <a:ext cx="6188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Computing,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Konstanz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C8608F-FB7D-791D-B3E5-2DABEF18195C}"/>
              </a:ext>
            </a:extLst>
          </p:cNvPr>
          <p:cNvSpPr txBox="1"/>
          <p:nvPr/>
        </p:nvSpPr>
        <p:spPr>
          <a:xfrm>
            <a:off x="7491000" y="5700918"/>
            <a:ext cx="39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36BE971-2679-5964-C53E-5EC45F9E900F}"/>
              </a:ext>
            </a:extLst>
          </p:cNvPr>
          <p:cNvSpPr txBox="1"/>
          <p:nvPr/>
        </p:nvSpPr>
        <p:spPr>
          <a:xfrm>
            <a:off x="381000" y="1089000"/>
            <a:ext cx="4546600" cy="830997"/>
          </a:xfrm>
          <a:prstGeom prst="rect">
            <a:avLst/>
          </a:prstGeom>
          <a:solidFill>
            <a:srgbClr val="B9DFEB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DeepShapeKit:</a:t>
            </a:r>
            <a:endParaRPr lang="de-DE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F64AFA-54AB-DB3B-3A91-32E508934F6C}"/>
              </a:ext>
            </a:extLst>
          </p:cNvPr>
          <p:cNvSpPr txBox="1"/>
          <p:nvPr/>
        </p:nvSpPr>
        <p:spPr>
          <a:xfrm>
            <a:off x="380999" y="1840541"/>
            <a:ext cx="10036147" cy="830997"/>
          </a:xfrm>
          <a:prstGeom prst="rect">
            <a:avLst/>
          </a:prstGeom>
          <a:solidFill>
            <a:srgbClr val="B9DFEB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accurate 4D shape</a:t>
            </a:r>
            <a:r>
              <a:rPr lang="en-US" sz="4800" b="1" dirty="0"/>
              <a:t>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reconstruction </a:t>
            </a:r>
            <a:endParaRPr lang="de-DE" sz="4800" dirty="0"/>
          </a:p>
        </p:txBody>
      </p:sp>
    </p:spTree>
    <p:extLst>
      <p:ext uri="{BB962C8B-B14F-4D97-AF65-F5344CB8AC3E}">
        <p14:creationId xmlns:p14="http://schemas.microsoft.com/office/powerpoint/2010/main" val="49782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F418-906E-4C15-BCA4-1BE169F1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50505"/>
            <a:ext cx="2408853" cy="754804"/>
          </a:xfrm>
        </p:spPr>
        <p:txBody>
          <a:bodyPr/>
          <a:lstStyle/>
          <a:p>
            <a:r>
              <a:rPr lang="en-HK" dirty="0"/>
              <a:t>Content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E762-5182-4E75-B646-17CD4048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Motivation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Contribution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How does it work? 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Related Work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Method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Results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Limitations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r>
              <a:rPr lang="en-HK" sz="3600" dirty="0"/>
              <a:t>Own thoughts</a:t>
            </a:r>
          </a:p>
          <a:p>
            <a:pPr marL="971550" lvl="1" indent="-514350">
              <a:buClr>
                <a:srgbClr val="00A9E0"/>
              </a:buClr>
              <a:buFont typeface="+mj-lt"/>
              <a:buAutoNum type="arabicPeriod"/>
            </a:pPr>
            <a:endParaRPr lang="en-HK" dirty="0"/>
          </a:p>
          <a:p>
            <a:pPr lvl="1">
              <a:buClr>
                <a:srgbClr val="00A9E0"/>
              </a:buClr>
              <a:buFont typeface="Arial" panose="020B0604020202020204" pitchFamily="34" charset="0"/>
              <a:buChar char="-"/>
            </a:pP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1214A-8ABC-49E3-BB83-611797DD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5400" y="6356350"/>
            <a:ext cx="67212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42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E3C1C640-0C83-F383-BC3D-DBFC992DF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Study fish movement</a:t>
            </a:r>
          </a:p>
          <a:p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089988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Motivation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FCC711-4D89-D376-5A2C-7EF185550944}"/>
              </a:ext>
            </a:extLst>
          </p:cNvPr>
          <p:cNvSpPr txBox="1"/>
          <p:nvPr/>
        </p:nvSpPr>
        <p:spPr>
          <a:xfrm>
            <a:off x="6787288" y="6065936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by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D4A2FBB-469B-A87C-D42B-D4DC61DA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5400" y="6356350"/>
            <a:ext cx="67212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0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E3C1C640-0C83-F383-BC3D-DBFC992DF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Study fish movement</a:t>
            </a:r>
          </a:p>
          <a:p>
            <a:pPr marL="571500" indent="-5715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3600" dirty="0">
                <a:solidFill>
                  <a:schemeClr val="bg1"/>
                </a:solidFill>
              </a:rPr>
              <a:t>Interesting for…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“Fish psychology”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089988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Motivation</a:t>
            </a:r>
          </a:p>
        </p:txBody>
      </p:sp>
      <p:pic>
        <p:nvPicPr>
          <p:cNvPr id="10" name="Grafik 9" descr="Ein Bild, das Entwurf, Cartoon, Kreis, Clipart enthält.&#10;&#10;Automatisch generierte Beschreibung">
            <a:extLst>
              <a:ext uri="{FF2B5EF4-FFF2-40B4-BE49-F238E27FC236}">
                <a16:creationId xmlns:a16="http://schemas.microsoft.com/office/drawing/2014/main" id="{29F9A3DA-EB08-8B01-8A71-79C631EA9D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56000" y="2754000"/>
            <a:ext cx="1040426" cy="115678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7FEF987-2759-1104-CD67-F0EE073251FD}"/>
              </a:ext>
            </a:extLst>
          </p:cNvPr>
          <p:cNvSpPr txBox="1"/>
          <p:nvPr/>
        </p:nvSpPr>
        <p:spPr>
          <a:xfrm>
            <a:off x="5257800" y="57581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Sigmund Freud: SWR /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Hykade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32E5CA1-ECBE-7BA8-46F6-CB22D8A32AC9}"/>
              </a:ext>
            </a:extLst>
          </p:cNvPr>
          <p:cNvSpPr txBox="1"/>
          <p:nvPr/>
        </p:nvSpPr>
        <p:spPr>
          <a:xfrm>
            <a:off x="6787288" y="6065936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of fish by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792CF119-991A-3D30-5C50-7058D102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5400" y="6356350"/>
            <a:ext cx="67212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2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E3C1C640-0C83-F383-BC3D-DBFC992DF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Study fish movement</a:t>
            </a:r>
          </a:p>
          <a:p>
            <a:pPr marL="571500" indent="-5715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3600" dirty="0">
                <a:solidFill>
                  <a:schemeClr val="bg1"/>
                </a:solidFill>
              </a:rPr>
              <a:t>Interesting for…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“Fish psychology”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Robotics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3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089988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Motivation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7F3B5B7-4BD4-5DFD-8AE2-F62A2CBB48EA}"/>
              </a:ext>
            </a:extLst>
          </p:cNvPr>
          <p:cNvSpPr txBox="1"/>
          <p:nvPr/>
        </p:nvSpPr>
        <p:spPr>
          <a:xfrm>
            <a:off x="5257800" y="57581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adapted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[Li, Liang </a:t>
            </a:r>
            <a:r>
              <a:rPr lang="de-DE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al. 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(2021)]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96B56C8-BF6D-0265-AED8-32D80B042B7E}"/>
              </a:ext>
            </a:extLst>
          </p:cNvPr>
          <p:cNvSpPr txBox="1"/>
          <p:nvPr/>
        </p:nvSpPr>
        <p:spPr>
          <a:xfrm>
            <a:off x="6787288" y="6065936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of fish by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E8A48A-CA42-4317-DF52-3B6933353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676" y="3921549"/>
            <a:ext cx="4190136" cy="1082451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0E9E5A2-8946-B54C-E128-82C0758C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5400" y="6356350"/>
            <a:ext cx="67212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65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E3C1C640-0C83-F383-BC3D-DBFC992DF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Study fish movement</a:t>
            </a:r>
          </a:p>
          <a:p>
            <a:pPr marL="571500" indent="-5715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3600" dirty="0">
                <a:solidFill>
                  <a:schemeClr val="bg1"/>
                </a:solidFill>
              </a:rPr>
              <a:t>Idea: use </a:t>
            </a:r>
            <a:r>
              <a:rPr lang="en-US" sz="3600" b="1" dirty="0">
                <a:solidFill>
                  <a:schemeClr val="bg1"/>
                </a:solidFill>
              </a:rPr>
              <a:t>4D model</a:t>
            </a:r>
            <a:r>
              <a:rPr lang="en-US" sz="3600" dirty="0">
                <a:solidFill>
                  <a:schemeClr val="bg1"/>
                </a:solidFill>
              </a:rPr>
              <a:t> of fish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sz="36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089988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Motivation</a:t>
            </a:r>
          </a:p>
        </p:txBody>
      </p:sp>
      <p:cxnSp>
        <p:nvCxnSpPr>
          <p:cNvPr id="2" name="Verbinder: gekrümmt 1">
            <a:extLst>
              <a:ext uri="{FF2B5EF4-FFF2-40B4-BE49-F238E27FC236}">
                <a16:creationId xmlns:a16="http://schemas.microsoft.com/office/drawing/2014/main" id="{7D33E61A-1F06-5E0D-913E-EEAA6E31B65A}"/>
              </a:ext>
            </a:extLst>
          </p:cNvPr>
          <p:cNvCxnSpPr>
            <a:cxnSpLocks/>
          </p:cNvCxnSpPr>
          <p:nvPr/>
        </p:nvCxnSpPr>
        <p:spPr>
          <a:xfrm rot="5400000">
            <a:off x="3051894" y="3004489"/>
            <a:ext cx="457200" cy="410400"/>
          </a:xfrm>
          <a:prstGeom prst="curvedConnector3">
            <a:avLst>
              <a:gd name="adj1" fmla="val 50000"/>
            </a:avLst>
          </a:prstGeom>
          <a:ln w="38100">
            <a:solidFill>
              <a:srgbClr val="59C7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14C9C874-C11A-A95E-F191-CF2781F0F6D1}"/>
              </a:ext>
            </a:extLst>
          </p:cNvPr>
          <p:cNvSpPr txBox="1"/>
          <p:nvPr/>
        </p:nvSpPr>
        <p:spPr>
          <a:xfrm>
            <a:off x="1416000" y="3360988"/>
            <a:ext cx="22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</a:t>
            </a:r>
            <a:r>
              <a:rPr lang="de-DE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endParaRPr lang="de-DE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B5F714BC-41C2-67E5-F821-D5036E7D44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99588" y="2995200"/>
            <a:ext cx="457200" cy="410400"/>
          </a:xfrm>
          <a:prstGeom prst="curvedConnector3">
            <a:avLst>
              <a:gd name="adj1" fmla="val 50000"/>
            </a:avLst>
          </a:prstGeom>
          <a:ln w="38100">
            <a:solidFill>
              <a:srgbClr val="59C7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761B71CE-2674-54F8-9D8C-9268D5FB168F}"/>
              </a:ext>
            </a:extLst>
          </p:cNvPr>
          <p:cNvSpPr txBox="1"/>
          <p:nvPr/>
        </p:nvSpPr>
        <p:spPr>
          <a:xfrm>
            <a:off x="3621000" y="3360988"/>
            <a:ext cx="22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1D time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7F7C959-E3CD-6E80-D229-471EF04717BA}"/>
              </a:ext>
            </a:extLst>
          </p:cNvPr>
          <p:cNvSpPr txBox="1"/>
          <p:nvPr/>
        </p:nvSpPr>
        <p:spPr>
          <a:xfrm>
            <a:off x="6787288" y="6065936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by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A969907-23B0-D36D-8270-48A499BA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5400" y="6356350"/>
            <a:ext cx="67212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90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E3C1C640-0C83-F383-BC3D-DBFC992DFB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Study fish movement</a:t>
            </a:r>
          </a:p>
          <a:p>
            <a:pPr marL="571500" indent="-5715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3600" dirty="0">
                <a:solidFill>
                  <a:schemeClr val="bg1"/>
                </a:solidFill>
              </a:rPr>
              <a:t>Idea: use </a:t>
            </a:r>
            <a:r>
              <a:rPr lang="en-US" sz="3600" b="1" dirty="0">
                <a:solidFill>
                  <a:schemeClr val="bg1"/>
                </a:solidFill>
              </a:rPr>
              <a:t>4D model</a:t>
            </a:r>
            <a:r>
              <a:rPr lang="en-US" sz="3600" dirty="0">
                <a:solidFill>
                  <a:schemeClr val="bg1"/>
                </a:solidFill>
              </a:rPr>
              <a:t> of fish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sz="3600" dirty="0">
              <a:solidFill>
                <a:schemeClr val="bg1"/>
              </a:solidFill>
            </a:endParaRP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sz="3600" dirty="0">
              <a:solidFill>
                <a:schemeClr val="bg1"/>
              </a:solidFill>
            </a:endParaRP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>
                <a:solidFill>
                  <a:schemeClr val="bg1"/>
                </a:solidFill>
              </a:rPr>
              <a:t>Why not use </a:t>
            </a:r>
            <a:r>
              <a:rPr lang="en-US" sz="3600" b="1" dirty="0">
                <a:solidFill>
                  <a:schemeClr val="bg1"/>
                </a:solidFill>
              </a:rPr>
              <a:t>other approaches</a:t>
            </a:r>
            <a:r>
              <a:rPr lang="en-US" sz="3600" dirty="0">
                <a:solidFill>
                  <a:schemeClr val="bg1"/>
                </a:solidFill>
              </a:rPr>
              <a:t>?</a:t>
            </a:r>
          </a:p>
          <a:p>
            <a:r>
              <a:rPr lang="de-DE" sz="3600" b="1" dirty="0">
                <a:solidFill>
                  <a:srgbClr val="59C7EB"/>
                </a:solidFill>
              </a:rPr>
              <a:t>	↯  </a:t>
            </a:r>
            <a:r>
              <a:rPr lang="de-DE" sz="3600" dirty="0">
                <a:solidFill>
                  <a:schemeClr val="bg1"/>
                </a:solidFill>
              </a:rPr>
              <a:t>Need </a:t>
            </a:r>
            <a:r>
              <a:rPr lang="de-DE" sz="3600" dirty="0" err="1">
                <a:solidFill>
                  <a:schemeClr val="bg1"/>
                </a:solidFill>
              </a:rPr>
              <a:t>much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b="1" dirty="0" err="1">
                <a:solidFill>
                  <a:schemeClr val="bg1"/>
                </a:solidFill>
              </a:rPr>
              <a:t>training</a:t>
            </a:r>
            <a:r>
              <a:rPr lang="de-DE" sz="3600" b="1" dirty="0">
                <a:solidFill>
                  <a:schemeClr val="bg1"/>
                </a:solidFill>
              </a:rPr>
              <a:t> </a:t>
            </a:r>
            <a:r>
              <a:rPr lang="de-DE" sz="3600" b="1" dirty="0" err="1">
                <a:solidFill>
                  <a:schemeClr val="bg1"/>
                </a:solidFill>
              </a:rPr>
              <a:t>data</a:t>
            </a:r>
            <a:endParaRPr lang="de-DE" sz="3600" b="1" dirty="0">
              <a:solidFill>
                <a:schemeClr val="bg1"/>
              </a:solidFill>
            </a:endParaRPr>
          </a:p>
          <a:p>
            <a:r>
              <a:rPr lang="de-DE" sz="3600" b="1" dirty="0">
                <a:solidFill>
                  <a:srgbClr val="59C7EB"/>
                </a:solidFill>
              </a:rPr>
              <a:t>	↯  </a:t>
            </a:r>
            <a:r>
              <a:rPr lang="de-DE" sz="3600" dirty="0" err="1">
                <a:solidFill>
                  <a:schemeClr val="bg1"/>
                </a:solidFill>
              </a:rPr>
              <a:t>Difficult</a:t>
            </a:r>
            <a:r>
              <a:rPr lang="de-DE" sz="3600" b="1" dirty="0">
                <a:solidFill>
                  <a:srgbClr val="59C7EB"/>
                </a:solidFill>
              </a:rPr>
              <a:t> </a:t>
            </a:r>
            <a:r>
              <a:rPr lang="de-DE" sz="3600" b="1" dirty="0" err="1">
                <a:solidFill>
                  <a:schemeClr val="bg1"/>
                </a:solidFill>
              </a:rPr>
              <a:t>lighting</a:t>
            </a:r>
            <a:r>
              <a:rPr lang="de-DE" sz="3600" b="1" dirty="0">
                <a:solidFill>
                  <a:schemeClr val="bg1"/>
                </a:solidFill>
              </a:rPr>
              <a:t> </a:t>
            </a:r>
            <a:r>
              <a:rPr lang="de-DE" sz="3600" b="1" dirty="0" err="1">
                <a:solidFill>
                  <a:schemeClr val="bg1"/>
                </a:solidFill>
              </a:rPr>
              <a:t>conditions</a:t>
            </a:r>
            <a:r>
              <a:rPr lang="de-DE" sz="3600" b="1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under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water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089988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Motivation</a:t>
            </a:r>
          </a:p>
        </p:txBody>
      </p:sp>
      <p:cxnSp>
        <p:nvCxnSpPr>
          <p:cNvPr id="2" name="Verbinder: gekrümmt 1">
            <a:extLst>
              <a:ext uri="{FF2B5EF4-FFF2-40B4-BE49-F238E27FC236}">
                <a16:creationId xmlns:a16="http://schemas.microsoft.com/office/drawing/2014/main" id="{7D33E61A-1F06-5E0D-913E-EEAA6E31B65A}"/>
              </a:ext>
            </a:extLst>
          </p:cNvPr>
          <p:cNvCxnSpPr>
            <a:cxnSpLocks/>
          </p:cNvCxnSpPr>
          <p:nvPr/>
        </p:nvCxnSpPr>
        <p:spPr>
          <a:xfrm rot="5400000">
            <a:off x="3051894" y="3004489"/>
            <a:ext cx="457200" cy="410400"/>
          </a:xfrm>
          <a:prstGeom prst="curvedConnector3">
            <a:avLst>
              <a:gd name="adj1" fmla="val 50000"/>
            </a:avLst>
          </a:prstGeom>
          <a:ln w="38100">
            <a:solidFill>
              <a:srgbClr val="59C7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14C9C874-C11A-A95E-F191-CF2781F0F6D1}"/>
              </a:ext>
            </a:extLst>
          </p:cNvPr>
          <p:cNvSpPr txBox="1"/>
          <p:nvPr/>
        </p:nvSpPr>
        <p:spPr>
          <a:xfrm>
            <a:off x="1416000" y="3360988"/>
            <a:ext cx="22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</a:t>
            </a:r>
            <a:r>
              <a:rPr lang="de-DE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endParaRPr lang="de-DE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B5F714BC-41C2-67E5-F821-D5036E7D44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99588" y="2995200"/>
            <a:ext cx="457200" cy="410400"/>
          </a:xfrm>
          <a:prstGeom prst="curvedConnector3">
            <a:avLst>
              <a:gd name="adj1" fmla="val 50000"/>
            </a:avLst>
          </a:prstGeom>
          <a:ln w="38100">
            <a:solidFill>
              <a:srgbClr val="59C7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761B71CE-2674-54F8-9D8C-9268D5FB168F}"/>
              </a:ext>
            </a:extLst>
          </p:cNvPr>
          <p:cNvSpPr txBox="1"/>
          <p:nvPr/>
        </p:nvSpPr>
        <p:spPr>
          <a:xfrm>
            <a:off x="3621000" y="3360988"/>
            <a:ext cx="22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1D time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8B9E608-156A-A050-49A2-7F0CD9BDE6EC}"/>
              </a:ext>
            </a:extLst>
          </p:cNvPr>
          <p:cNvSpPr txBox="1"/>
          <p:nvPr/>
        </p:nvSpPr>
        <p:spPr>
          <a:xfrm>
            <a:off x="6787288" y="6065936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by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Font typeface="Symbol" panose="05050102010706020507" pitchFamily="18" charset="2"/>
              <a:buChar char="-"/>
            </a:pPr>
            <a:r>
              <a:rPr lang="en-US" sz="3600" dirty="0"/>
              <a:t>DeepShapeKit: Framework for creating </a:t>
            </a:r>
            <a:r>
              <a:rPr lang="en-US" sz="3600" b="1" dirty="0"/>
              <a:t>4D model from video(s)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/>
              <a:t>Small training data set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 err="1"/>
              <a:t>Textureless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/>
              <a:t>Good sequential smoothness</a:t>
            </a:r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→"/>
            </a:pPr>
            <a:r>
              <a:rPr lang="en-US" sz="3600" dirty="0"/>
              <a:t>Specifically tailored for fish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722914" y="6356349"/>
            <a:ext cx="4746171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89174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Contribution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13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63203" y="6369343"/>
            <a:ext cx="4865594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C4C152-E368-C882-EA7E-4DC8D174F3D5}"/>
              </a:ext>
            </a:extLst>
          </p:cNvPr>
          <p:cNvSpPr txBox="1">
            <a:spLocks/>
          </p:cNvSpPr>
          <p:nvPr/>
        </p:nvSpPr>
        <p:spPr>
          <a:xfrm>
            <a:off x="838200" y="1856157"/>
            <a:ext cx="10515600" cy="523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Idea: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2977F2F-8A8E-84F9-C10C-BE7B6ECC2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314" y="247129"/>
            <a:ext cx="4175233" cy="180477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17CD32-7029-9F9B-799C-2532EEDC1645}"/>
              </a:ext>
            </a:extLst>
          </p:cNvPr>
          <p:cNvSpPr txBox="1">
            <a:spLocks/>
          </p:cNvSpPr>
          <p:nvPr/>
        </p:nvSpPr>
        <p:spPr>
          <a:xfrm>
            <a:off x="837967" y="2369341"/>
            <a:ext cx="5122800" cy="24819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Bend the model</a:t>
            </a:r>
          </a:p>
        </p:txBody>
      </p:sp>
      <p:pic>
        <p:nvPicPr>
          <p:cNvPr id="12" name="Grafik 11" descr="Ein Bild, das Schwarzweiß, weiß, Im Haus, monochrom enthält.&#10;&#10;Automatisch generierte Beschreibung">
            <a:extLst>
              <a:ext uri="{FF2B5EF4-FFF2-40B4-BE49-F238E27FC236}">
                <a16:creationId xmlns:a16="http://schemas.microsoft.com/office/drawing/2014/main" id="{4F4F9E1A-E5E3-679F-367F-E6A20F8508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94" y="2382529"/>
            <a:ext cx="4865594" cy="2470810"/>
          </a:xfrm>
          <a:prstGeom prst="rect">
            <a:avLst/>
          </a:prstGeom>
        </p:spPr>
      </p:pic>
      <p:pic>
        <p:nvPicPr>
          <p:cNvPr id="14" name="Grafik 13" descr="Ein Bild, das Schwarzweiß, weiß, Im Haus, monochrom enthält.&#10;&#10;Automatisch generierte Beschreibung">
            <a:extLst>
              <a:ext uri="{FF2B5EF4-FFF2-40B4-BE49-F238E27FC236}">
                <a16:creationId xmlns:a16="http://schemas.microsoft.com/office/drawing/2014/main" id="{D0400B97-75D9-62E4-358A-6888C6EFF6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594" y="2652529"/>
            <a:ext cx="4865594" cy="2470810"/>
          </a:xfrm>
          <a:prstGeom prst="rect">
            <a:avLst/>
          </a:prstGeom>
          <a:solidFill>
            <a:schemeClr val="bg1">
              <a:alpha val="4000"/>
            </a:schemeClr>
          </a:solidFill>
        </p:spPr>
      </p:pic>
      <p:pic>
        <p:nvPicPr>
          <p:cNvPr id="15" name="Grafik 14" descr="Ein Bild, das Schwarzweiß, weiß, Im Haus, monochrom enthält.&#10;&#10;Automatisch generierte Beschreibung">
            <a:extLst>
              <a:ext uri="{FF2B5EF4-FFF2-40B4-BE49-F238E27FC236}">
                <a16:creationId xmlns:a16="http://schemas.microsoft.com/office/drawing/2014/main" id="{CC52E978-60DB-5312-76E1-4D5FD89BEE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00" y="2926922"/>
            <a:ext cx="4865594" cy="247081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F636293-A017-933B-7761-32921988F124}"/>
              </a:ext>
            </a:extLst>
          </p:cNvPr>
          <p:cNvSpPr txBox="1"/>
          <p:nvPr/>
        </p:nvSpPr>
        <p:spPr>
          <a:xfrm>
            <a:off x="6983391" y="1865443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E1406E5-2978-0168-8150-E79BDB9B7C91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Image by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064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48875" y="6389013"/>
            <a:ext cx="47574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C4C152-E368-C882-EA7E-4DC8D174F3D5}"/>
              </a:ext>
            </a:extLst>
          </p:cNvPr>
          <p:cNvSpPr txBox="1">
            <a:spLocks/>
          </p:cNvSpPr>
          <p:nvPr/>
        </p:nvSpPr>
        <p:spPr>
          <a:xfrm>
            <a:off x="838200" y="1856157"/>
            <a:ext cx="10515600" cy="523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Input:</a:t>
            </a:r>
          </a:p>
        </p:txBody>
      </p:sp>
      <p:pic>
        <p:nvPicPr>
          <p:cNvPr id="2" name="sample-front">
            <a:hlinkClick r:id="" action="ppaction://media"/>
            <a:extLst>
              <a:ext uri="{FF2B5EF4-FFF2-40B4-BE49-F238E27FC236}">
                <a16:creationId xmlns:a16="http://schemas.microsoft.com/office/drawing/2014/main" id="{266F94B9-3DFB-AB1A-664E-E938EE16A7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12575" y="2830154"/>
            <a:ext cx="5715000" cy="2902148"/>
          </a:xfrm>
          <a:prstGeom prst="rect">
            <a:avLst/>
          </a:prstGeom>
        </p:spPr>
      </p:pic>
      <p:pic>
        <p:nvPicPr>
          <p:cNvPr id="5" name="bottom">
            <a:hlinkClick r:id="" action="ppaction://media"/>
            <a:extLst>
              <a:ext uri="{FF2B5EF4-FFF2-40B4-BE49-F238E27FC236}">
                <a16:creationId xmlns:a16="http://schemas.microsoft.com/office/drawing/2014/main" id="{98A60209-279F-1B03-3971-3307CD2FF5F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 flipH="1">
            <a:off x="6164425" y="2830154"/>
            <a:ext cx="5715000" cy="290214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419BE40-3B19-990D-7B8B-FFAAE379680E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Videos by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5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157"/>
            <a:ext cx="5122800" cy="2481944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Bend the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33876" y="6356350"/>
            <a:ext cx="5387400" cy="365125"/>
          </a:xfrm>
        </p:spPr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3AE8AF-21F9-F7BD-9ACC-B91EEB32CED7}"/>
              </a:ext>
            </a:extLst>
          </p:cNvPr>
          <p:cNvSpPr/>
          <p:nvPr/>
        </p:nvSpPr>
        <p:spPr>
          <a:xfrm>
            <a:off x="838200" y="1856156"/>
            <a:ext cx="5122800" cy="123360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660B0DC-A757-EFED-20D8-4FA39205CCE1}"/>
              </a:ext>
            </a:extLst>
          </p:cNvPr>
          <p:cNvSpPr/>
          <p:nvPr/>
        </p:nvSpPr>
        <p:spPr>
          <a:xfrm>
            <a:off x="838200" y="3699000"/>
            <a:ext cx="5122800" cy="6391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 descr="Ein Bild, das Schwarzweiß, weiß, Im Haus, monochrom enthält.&#10;&#10;Automatisch generierte Beschreibung">
            <a:extLst>
              <a:ext uri="{FF2B5EF4-FFF2-40B4-BE49-F238E27FC236}">
                <a16:creationId xmlns:a16="http://schemas.microsoft.com/office/drawing/2014/main" id="{CE3DC0C6-8CA4-224D-F049-E69C8B03EA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612" y="1867290"/>
            <a:ext cx="4865594" cy="247081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B7C8DDB-2F81-DB11-F46F-78AF3CB77376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364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157"/>
            <a:ext cx="5122800" cy="2481944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Bend the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3AE8AF-21F9-F7BD-9ACC-B91EEB32CED7}"/>
              </a:ext>
            </a:extLst>
          </p:cNvPr>
          <p:cNvSpPr/>
          <p:nvPr/>
        </p:nvSpPr>
        <p:spPr>
          <a:xfrm>
            <a:off x="838200" y="1856156"/>
            <a:ext cx="5122800" cy="123360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660B0DC-A757-EFED-20D8-4FA39205CCE1}"/>
              </a:ext>
            </a:extLst>
          </p:cNvPr>
          <p:cNvSpPr/>
          <p:nvPr/>
        </p:nvSpPr>
        <p:spPr>
          <a:xfrm>
            <a:off x="838200" y="3699000"/>
            <a:ext cx="5122800" cy="6391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C6711C8-3BC5-EBC6-048B-2BD4110DEE08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122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b="1" dirty="0"/>
              <a:t>Where</a:t>
            </a:r>
            <a:r>
              <a:rPr lang="en-US" dirty="0"/>
              <a:t> is a </a:t>
            </a:r>
            <a:r>
              <a:rPr lang="en-US" b="1" dirty="0"/>
              <a:t>fish</a:t>
            </a:r>
            <a:r>
              <a:rPr lang="en-US" dirty="0"/>
              <a:t>?</a:t>
            </a:r>
          </a:p>
        </p:txBody>
      </p:sp>
      <p:pic>
        <p:nvPicPr>
          <p:cNvPr id="2" name="Grafik 1" descr="Ein Bild, das Schwarzweiß, weiß, Im Haus, monochrom enthält.&#10;&#10;Automatisch generierte Beschreibung">
            <a:extLst>
              <a:ext uri="{FF2B5EF4-FFF2-40B4-BE49-F238E27FC236}">
                <a16:creationId xmlns:a16="http://schemas.microsoft.com/office/drawing/2014/main" id="{CE3DC0C6-8CA4-224D-F049-E69C8B03EA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612" y="1867290"/>
            <a:ext cx="4865594" cy="247081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B7D36A2-5416-5E7D-0F87-7BF4637B3705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64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157"/>
            <a:ext cx="5122800" cy="2481944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Bend the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3AE8AF-21F9-F7BD-9ACC-B91EEB32CED7}"/>
              </a:ext>
            </a:extLst>
          </p:cNvPr>
          <p:cNvSpPr/>
          <p:nvPr/>
        </p:nvSpPr>
        <p:spPr>
          <a:xfrm>
            <a:off x="838200" y="1856156"/>
            <a:ext cx="5122800" cy="123360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660B0DC-A757-EFED-20D8-4FA39205CCE1}"/>
              </a:ext>
            </a:extLst>
          </p:cNvPr>
          <p:cNvSpPr/>
          <p:nvPr/>
        </p:nvSpPr>
        <p:spPr>
          <a:xfrm>
            <a:off x="838200" y="3699000"/>
            <a:ext cx="5122800" cy="6391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C83282D-3A4A-03EC-53C5-097299B44E87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122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b="1" dirty="0"/>
              <a:t>Where</a:t>
            </a:r>
            <a:r>
              <a:rPr lang="en-US" dirty="0"/>
              <a:t> is a </a:t>
            </a:r>
            <a:r>
              <a:rPr lang="en-US" b="1" dirty="0"/>
              <a:t>fish</a:t>
            </a:r>
            <a:r>
              <a:rPr lang="en-US" dirty="0"/>
              <a:t>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/>
              <a:t>-&gt; Instance segmentation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8DCBF81-E10A-64B2-3397-F695C19043C6}"/>
              </a:ext>
            </a:extLst>
          </p:cNvPr>
          <p:cNvGrpSpPr/>
          <p:nvPr/>
        </p:nvGrpSpPr>
        <p:grpSpPr>
          <a:xfrm>
            <a:off x="6482612" y="1867290"/>
            <a:ext cx="4865594" cy="2470810"/>
            <a:chOff x="6482612" y="1867290"/>
            <a:chExt cx="4865594" cy="2470810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BE17F013-1A0B-9C00-E7EF-A89BCF9F6830}"/>
                </a:ext>
              </a:extLst>
            </p:cNvPr>
            <p:cNvGrpSpPr/>
            <p:nvPr/>
          </p:nvGrpSpPr>
          <p:grpSpPr>
            <a:xfrm>
              <a:off x="6482612" y="1867290"/>
              <a:ext cx="4865594" cy="2470810"/>
              <a:chOff x="6482612" y="1867290"/>
              <a:chExt cx="4865594" cy="2470810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0B00EB6D-952F-23F0-BA98-BA0CA49CEB59}"/>
                  </a:ext>
                </a:extLst>
              </p:cNvPr>
              <p:cNvGrpSpPr/>
              <p:nvPr/>
            </p:nvGrpSpPr>
            <p:grpSpPr>
              <a:xfrm>
                <a:off x="6482612" y="1867290"/>
                <a:ext cx="4865594" cy="2470810"/>
                <a:chOff x="-1" y="333375"/>
                <a:chExt cx="12192002" cy="6191250"/>
              </a:xfrm>
            </p:grpSpPr>
            <p:pic>
              <p:nvPicPr>
                <p:cNvPr id="6" name="Grafik 5" descr="Ein Bild, das Schwarzweiß, weiß, Im Haus, monochrom enthält.&#10;&#10;Automatisch generierte Beschreibung">
                  <a:extLst>
                    <a:ext uri="{FF2B5EF4-FFF2-40B4-BE49-F238E27FC236}">
                      <a16:creationId xmlns:a16="http://schemas.microsoft.com/office/drawing/2014/main" id="{3B586FDA-8F1B-EEA1-B8F2-258CF7674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" y="333375"/>
                  <a:ext cx="12192002" cy="6191250"/>
                </a:xfrm>
                <a:prstGeom prst="rect">
                  <a:avLst/>
                </a:prstGeom>
              </p:spPr>
            </p:pic>
            <p:pic>
              <p:nvPicPr>
                <p:cNvPr id="7" name="Grafik 6">
                  <a:extLst>
                    <a:ext uri="{FF2B5EF4-FFF2-40B4-BE49-F238E27FC236}">
                      <a16:creationId xmlns:a16="http://schemas.microsoft.com/office/drawing/2014/main" id="{A8A7F002-44EB-228D-C1CB-90CC5A2B6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28720" b="38062" l="35571" r="46611">
                              <a14:foregroundMark x1="46417" y1="31834" x2="46030" y2="32180"/>
                              <a14:foregroundMark x1="46159" y1="37543" x2="46159" y2="37543"/>
                              <a14:foregroundMark x1="46675" y1="37197" x2="46675" y2="37197"/>
                              <a14:foregroundMark x1="35571" y1="32872" x2="35571" y2="32872"/>
                              <a14:foregroundMark x1="39187" y1="28720" x2="39187" y2="28720"/>
                              <a14:foregroundMark x1="41640" y1="37543" x2="41640" y2="37543"/>
                              <a14:foregroundMark x1="41640" y1="37889" x2="41640" y2="3788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34749" t="27533" r="52976" b="60315"/>
                <a:stretch/>
              </p:blipFill>
              <p:spPr>
                <a:xfrm rot="20521178">
                  <a:off x="6481904" y="3274276"/>
                  <a:ext cx="2174881" cy="803471"/>
                </a:xfrm>
                <a:prstGeom prst="rect">
                  <a:avLst/>
                </a:prstGeom>
              </p:spPr>
            </p:pic>
          </p:grpSp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2195E997-269D-6751-BE03-03B8BA89ED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8720" b="38062" l="35119" r="46611">
                            <a14:foregroundMark x1="46417" y1="31834" x2="46030" y2="32180"/>
                            <a14:foregroundMark x1="46159" y1="37543" x2="46159" y2="37543"/>
                            <a14:foregroundMark x1="46675" y1="37197" x2="46675" y2="37197"/>
                            <a14:foregroundMark x1="35571" y1="32872" x2="35571" y2="32872"/>
                            <a14:foregroundMark x1="39187" y1="28720" x2="39187" y2="28720"/>
                            <a14:foregroundMark x1="41640" y1="37543" x2="41640" y2="37543"/>
                            <a14:foregroundMark x1="41640" y1="37889" x2="41640" y2="37889"/>
                            <a14:foregroundMark x1="41898" y1="29585" x2="43512" y2="33045"/>
                            <a14:foregroundMark x1="46417" y1="37370" x2="46482" y2="37889"/>
                            <a14:foregroundMark x1="46611" y1="37889" x2="46611" y2="37889"/>
                            <a14:foregroundMark x1="46288" y1="33737" x2="46288" y2="33737"/>
                            <a14:foregroundMark x1="46417" y1="31142" x2="46417" y2="31142"/>
                            <a14:foregroundMark x1="46611" y1="30796" x2="46611" y2="30796"/>
                            <a14:foregroundMark x1="46546" y1="30277" x2="46675" y2="31142"/>
                            <a14:foregroundMark x1="41317" y1="37716" x2="41317" y2="37716"/>
                            <a14:foregroundMark x1="41575" y1="38235" x2="41575" y2="38235"/>
                            <a14:foregroundMark x1="43706" y1="36678" x2="43706" y2="36678"/>
                            <a14:foregroundMark x1="44158" y1="36851" x2="44158" y2="36851"/>
                            <a14:foregroundMark x1="35119" y1="32872" x2="35119" y2="32872"/>
                            <a14:foregroundMark x1="35442" y1="34083" x2="35442" y2="34083"/>
                          </a14:backgroundRemoval>
                        </a14:imgEffect>
                      </a14:imgLayer>
                    </a14:imgProps>
                  </a:ext>
                </a:extLst>
              </a:blip>
              <a:srcRect l="34749" t="27533" r="52976" b="60315"/>
              <a:stretch/>
            </p:blipFill>
            <p:spPr>
              <a:xfrm rot="20666205">
                <a:off x="7974888" y="3055431"/>
                <a:ext cx="794238" cy="361150"/>
              </a:xfrm>
              <a:prstGeom prst="rect">
                <a:avLst/>
              </a:prstGeom>
            </p:spPr>
          </p:pic>
        </p:grp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18893448-EBFC-0CB6-18E3-1AE6036A4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463" b="88060" l="4516" r="89032">
                          <a14:foregroundMark x1="7742" y1="53731" x2="7742" y2="53731"/>
                          <a14:foregroundMark x1="4516" y1="56716" x2="4516" y2="567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917807">
              <a:off x="7965458" y="2980362"/>
              <a:ext cx="1022118" cy="441819"/>
            </a:xfrm>
            <a:prstGeom prst="rect">
              <a:avLst/>
            </a:prstGeom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ED63DB43-D876-054B-A6B1-49BA68194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463" b="88060" l="4516" r="89032">
                          <a14:foregroundMark x1="7742" y1="53731" x2="7742" y2="53731"/>
                          <a14:foregroundMark x1="4516" y1="56716" x2="4516" y2="567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91542">
              <a:off x="9031650" y="2936350"/>
              <a:ext cx="1022118" cy="441819"/>
            </a:xfrm>
            <a:prstGeom prst="rect">
              <a:avLst/>
            </a:prstGeom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</p:pic>
      </p:grpSp>
      <p:pic>
        <p:nvPicPr>
          <p:cNvPr id="19" name="Grafik 18" descr="Ein Bild, das Schwarzweiß, monochrom, Schwarz, weiß enthält.&#10;&#10;Automatisch generierte Beschreibung">
            <a:extLst>
              <a:ext uri="{FF2B5EF4-FFF2-40B4-BE49-F238E27FC236}">
                <a16:creationId xmlns:a16="http://schemas.microsoft.com/office/drawing/2014/main" id="{D39B62DA-504E-DE8E-D9EB-8887FACB31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974" y="1854359"/>
            <a:ext cx="4861292" cy="247081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279CB98-0FC6-872F-DCC6-785969D336D0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86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6157"/>
            <a:ext cx="5122800" cy="2481944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Bend the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14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3AE8AF-21F9-F7BD-9ACC-B91EEB32CED7}"/>
              </a:ext>
            </a:extLst>
          </p:cNvPr>
          <p:cNvSpPr/>
          <p:nvPr/>
        </p:nvSpPr>
        <p:spPr>
          <a:xfrm>
            <a:off x="838200" y="1856156"/>
            <a:ext cx="5122800" cy="123360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660B0DC-A757-EFED-20D8-4FA39205CCE1}"/>
              </a:ext>
            </a:extLst>
          </p:cNvPr>
          <p:cNvSpPr/>
          <p:nvPr/>
        </p:nvSpPr>
        <p:spPr>
          <a:xfrm>
            <a:off x="838200" y="3699000"/>
            <a:ext cx="5122800" cy="6391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C83282D-3A4A-03EC-53C5-097299B44E87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122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b="1" dirty="0"/>
              <a:t>Where</a:t>
            </a:r>
            <a:r>
              <a:rPr lang="en-US" dirty="0"/>
              <a:t> is a </a:t>
            </a:r>
            <a:r>
              <a:rPr lang="en-US" b="1" dirty="0"/>
              <a:t>fish</a:t>
            </a:r>
            <a:r>
              <a:rPr lang="en-US" dirty="0"/>
              <a:t>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/>
              <a:t>-&gt; Instance segmentation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position the model?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/>
              <a:t>-&gt; later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8DCBF81-E10A-64B2-3397-F695C19043C6}"/>
              </a:ext>
            </a:extLst>
          </p:cNvPr>
          <p:cNvGrpSpPr/>
          <p:nvPr/>
        </p:nvGrpSpPr>
        <p:grpSpPr>
          <a:xfrm>
            <a:off x="6482612" y="1867290"/>
            <a:ext cx="4865594" cy="2470810"/>
            <a:chOff x="6482612" y="1867290"/>
            <a:chExt cx="4865594" cy="2470810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BE17F013-1A0B-9C00-E7EF-A89BCF9F6830}"/>
                </a:ext>
              </a:extLst>
            </p:cNvPr>
            <p:cNvGrpSpPr/>
            <p:nvPr/>
          </p:nvGrpSpPr>
          <p:grpSpPr>
            <a:xfrm>
              <a:off x="6482612" y="1867290"/>
              <a:ext cx="4865594" cy="2470810"/>
              <a:chOff x="6482612" y="1867290"/>
              <a:chExt cx="4865594" cy="2470810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0B00EB6D-952F-23F0-BA98-BA0CA49CEB59}"/>
                  </a:ext>
                </a:extLst>
              </p:cNvPr>
              <p:cNvGrpSpPr/>
              <p:nvPr/>
            </p:nvGrpSpPr>
            <p:grpSpPr>
              <a:xfrm>
                <a:off x="6482612" y="1867290"/>
                <a:ext cx="4865594" cy="2470810"/>
                <a:chOff x="-1" y="333375"/>
                <a:chExt cx="12192002" cy="6191250"/>
              </a:xfrm>
            </p:grpSpPr>
            <p:pic>
              <p:nvPicPr>
                <p:cNvPr id="6" name="Grafik 5" descr="Ein Bild, das Schwarzweiß, weiß, Im Haus, monochrom enthält.&#10;&#10;Automatisch generierte Beschreibung">
                  <a:extLst>
                    <a:ext uri="{FF2B5EF4-FFF2-40B4-BE49-F238E27FC236}">
                      <a16:creationId xmlns:a16="http://schemas.microsoft.com/office/drawing/2014/main" id="{3B586FDA-8F1B-EEA1-B8F2-258CF7674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" y="333375"/>
                  <a:ext cx="12192002" cy="6191250"/>
                </a:xfrm>
                <a:prstGeom prst="rect">
                  <a:avLst/>
                </a:prstGeom>
              </p:spPr>
            </p:pic>
            <p:pic>
              <p:nvPicPr>
                <p:cNvPr id="7" name="Grafik 6">
                  <a:extLst>
                    <a:ext uri="{FF2B5EF4-FFF2-40B4-BE49-F238E27FC236}">
                      <a16:creationId xmlns:a16="http://schemas.microsoft.com/office/drawing/2014/main" id="{A8A7F002-44EB-228D-C1CB-90CC5A2B6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28720" b="38062" l="35571" r="46611">
                              <a14:foregroundMark x1="46417" y1="31834" x2="46030" y2="32180"/>
                              <a14:foregroundMark x1="46159" y1="37543" x2="46159" y2="37543"/>
                              <a14:foregroundMark x1="46675" y1="37197" x2="46675" y2="37197"/>
                              <a14:foregroundMark x1="35571" y1="32872" x2="35571" y2="32872"/>
                              <a14:foregroundMark x1="39187" y1="28720" x2="39187" y2="28720"/>
                              <a14:foregroundMark x1="41640" y1="37543" x2="41640" y2="37543"/>
                              <a14:foregroundMark x1="41640" y1="37889" x2="41640" y2="3788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34749" t="27533" r="52976" b="60315"/>
                <a:stretch/>
              </p:blipFill>
              <p:spPr>
                <a:xfrm rot="20521178">
                  <a:off x="6481904" y="3274276"/>
                  <a:ext cx="2174881" cy="803471"/>
                </a:xfrm>
                <a:prstGeom prst="rect">
                  <a:avLst/>
                </a:prstGeom>
              </p:spPr>
            </p:pic>
          </p:grpSp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2195E997-269D-6751-BE03-03B8BA89ED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28720" b="38062" l="35119" r="46611">
                            <a14:foregroundMark x1="46417" y1="31834" x2="46030" y2="32180"/>
                            <a14:foregroundMark x1="46159" y1="37543" x2="46159" y2="37543"/>
                            <a14:foregroundMark x1="46675" y1="37197" x2="46675" y2="37197"/>
                            <a14:foregroundMark x1="35571" y1="32872" x2="35571" y2="32872"/>
                            <a14:foregroundMark x1="39187" y1="28720" x2="39187" y2="28720"/>
                            <a14:foregroundMark x1="41640" y1="37543" x2="41640" y2="37543"/>
                            <a14:foregroundMark x1="41640" y1="37889" x2="41640" y2="37889"/>
                            <a14:foregroundMark x1="41898" y1="29585" x2="43512" y2="33045"/>
                            <a14:foregroundMark x1="46417" y1="37370" x2="46482" y2="37889"/>
                            <a14:foregroundMark x1="46611" y1="37889" x2="46611" y2="37889"/>
                            <a14:foregroundMark x1="46288" y1="33737" x2="46288" y2="33737"/>
                            <a14:foregroundMark x1="46417" y1="31142" x2="46417" y2="31142"/>
                            <a14:foregroundMark x1="46611" y1="30796" x2="46611" y2="30796"/>
                            <a14:foregroundMark x1="46546" y1="30277" x2="46675" y2="31142"/>
                            <a14:foregroundMark x1="41317" y1="37716" x2="41317" y2="37716"/>
                            <a14:foregroundMark x1="41575" y1="38235" x2="41575" y2="38235"/>
                            <a14:foregroundMark x1="43706" y1="36678" x2="43706" y2="36678"/>
                            <a14:foregroundMark x1="44158" y1="36851" x2="44158" y2="36851"/>
                            <a14:foregroundMark x1="35119" y1="32872" x2="35119" y2="32872"/>
                            <a14:foregroundMark x1="35442" y1="34083" x2="35442" y2="34083"/>
                          </a14:backgroundRemoval>
                        </a14:imgEffect>
                      </a14:imgLayer>
                    </a14:imgProps>
                  </a:ext>
                </a:extLst>
              </a:blip>
              <a:srcRect l="34749" t="27533" r="52976" b="60315"/>
              <a:stretch/>
            </p:blipFill>
            <p:spPr>
              <a:xfrm rot="20666205">
                <a:off x="7974888" y="3055431"/>
                <a:ext cx="794238" cy="361150"/>
              </a:xfrm>
              <a:prstGeom prst="rect">
                <a:avLst/>
              </a:prstGeom>
            </p:spPr>
          </p:pic>
        </p:grp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18893448-EBFC-0CB6-18E3-1AE6036A4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7463" b="88060" l="4516" r="89032">
                          <a14:foregroundMark x1="7742" y1="53731" x2="7742" y2="53731"/>
                          <a14:foregroundMark x1="4516" y1="56716" x2="4516" y2="567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917807">
              <a:off x="7965458" y="2980362"/>
              <a:ext cx="1022118" cy="441819"/>
            </a:xfrm>
            <a:prstGeom prst="rect">
              <a:avLst/>
            </a:prstGeom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ED63DB43-D876-054B-A6B1-49BA68194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7463" b="88060" l="4516" r="89032">
                          <a14:foregroundMark x1="7742" y1="53731" x2="7742" y2="53731"/>
                          <a14:foregroundMark x1="4516" y1="56716" x2="4516" y2="567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91542">
              <a:off x="9031650" y="2936350"/>
              <a:ext cx="1022118" cy="441819"/>
            </a:xfrm>
            <a:prstGeom prst="rect">
              <a:avLst/>
            </a:prstGeom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D39B62DA-504E-DE8E-D9EB-8887FACB314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6974" y="1854359"/>
            <a:ext cx="4861292" cy="247081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A380F69-729E-E904-16F4-0EA36E6861A0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64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0AC237-D862-1C4E-2213-A173EBA1447B}"/>
              </a:ext>
            </a:extLst>
          </p:cNvPr>
          <p:cNvSpPr txBox="1">
            <a:spLocks/>
          </p:cNvSpPr>
          <p:nvPr/>
        </p:nvSpPr>
        <p:spPr>
          <a:xfrm>
            <a:off x="838200" y="1854001"/>
            <a:ext cx="5122800" cy="24819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Bend the model</a:t>
            </a:r>
            <a:endParaRPr lang="en-US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042FCE-6B5D-C7E8-B871-83B1F0546FD1}"/>
              </a:ext>
            </a:extLst>
          </p:cNvPr>
          <p:cNvSpPr/>
          <p:nvPr/>
        </p:nvSpPr>
        <p:spPr>
          <a:xfrm>
            <a:off x="838200" y="1854001"/>
            <a:ext cx="5122800" cy="1890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3A9EA09-2286-296F-E8E4-0DDCB88C9E9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0" t="30403" r="31734" b="19384"/>
          <a:stretch/>
        </p:blipFill>
        <p:spPr>
          <a:xfrm flipH="1">
            <a:off x="6482612" y="1867290"/>
            <a:ext cx="4865594" cy="24708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F393786-8C7E-58E9-5EDF-6A895AD2ACE4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22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0AC237-D862-1C4E-2213-A173EBA1447B}"/>
              </a:ext>
            </a:extLst>
          </p:cNvPr>
          <p:cNvSpPr txBox="1">
            <a:spLocks/>
          </p:cNvSpPr>
          <p:nvPr/>
        </p:nvSpPr>
        <p:spPr>
          <a:xfrm>
            <a:off x="838200" y="1854001"/>
            <a:ext cx="5122800" cy="24819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Bend the model</a:t>
            </a:r>
            <a:endParaRPr lang="en-US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042FCE-6B5D-C7E8-B871-83B1F0546FD1}"/>
              </a:ext>
            </a:extLst>
          </p:cNvPr>
          <p:cNvSpPr/>
          <p:nvPr/>
        </p:nvSpPr>
        <p:spPr>
          <a:xfrm>
            <a:off x="838200" y="1854001"/>
            <a:ext cx="5122800" cy="1890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6B2AE2-8676-5CE5-C053-762E92AAB2B5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122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</a:t>
            </a:r>
            <a:r>
              <a:rPr lang="en-US" sz="2400" b="1" dirty="0"/>
              <a:t>pose</a:t>
            </a:r>
            <a:r>
              <a:rPr lang="en-US" sz="2400" dirty="0"/>
              <a:t> does the fish have?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7ECB60A-375E-B239-A22E-5F17245883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0" t="30403" r="31734" b="19384"/>
          <a:stretch/>
        </p:blipFill>
        <p:spPr>
          <a:xfrm flipH="1">
            <a:off x="6482612" y="1867290"/>
            <a:ext cx="4865594" cy="24708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7C23977-2A13-A959-CC9F-D1AC015EED75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7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0AC237-D862-1C4E-2213-A173EBA1447B}"/>
              </a:ext>
            </a:extLst>
          </p:cNvPr>
          <p:cNvSpPr txBox="1">
            <a:spLocks/>
          </p:cNvSpPr>
          <p:nvPr/>
        </p:nvSpPr>
        <p:spPr>
          <a:xfrm>
            <a:off x="838200" y="1854001"/>
            <a:ext cx="5122800" cy="24819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Bend the model</a:t>
            </a:r>
            <a:endParaRPr lang="en-US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042FCE-6B5D-C7E8-B871-83B1F0546FD1}"/>
              </a:ext>
            </a:extLst>
          </p:cNvPr>
          <p:cNvSpPr/>
          <p:nvPr/>
        </p:nvSpPr>
        <p:spPr>
          <a:xfrm>
            <a:off x="838200" y="1854001"/>
            <a:ext cx="5122800" cy="1890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6B2AE2-8676-5CE5-C053-762E92AAB2B5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122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</a:t>
            </a:r>
            <a:r>
              <a:rPr lang="en-US" sz="2400" b="1" dirty="0"/>
              <a:t>pose</a:t>
            </a:r>
            <a:r>
              <a:rPr lang="en-US" sz="2400" dirty="0"/>
              <a:t> does the fish have?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/>
              <a:t>-&gt; pose estimation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FA9CD4BF-CD1A-3F47-03B9-B57908555450}"/>
              </a:ext>
            </a:extLst>
          </p:cNvPr>
          <p:cNvGrpSpPr/>
          <p:nvPr/>
        </p:nvGrpSpPr>
        <p:grpSpPr>
          <a:xfrm>
            <a:off x="6482612" y="1867290"/>
            <a:ext cx="4865594" cy="2470809"/>
            <a:chOff x="6482612" y="1867290"/>
            <a:chExt cx="4865594" cy="2470809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B009307-2576-3A29-806E-4D2D32254E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50" t="30403" r="31734" b="19384"/>
            <a:stretch/>
          </p:blipFill>
          <p:spPr>
            <a:xfrm flipH="1">
              <a:off x="6482612" y="1867290"/>
              <a:ext cx="4865594" cy="2470809"/>
            </a:xfrm>
            <a:prstGeom prst="rect">
              <a:avLst/>
            </a:prstGeom>
          </p:spPr>
        </p:pic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EA615BB0-AB8C-49EF-F9CE-F49C5BFFAA87}"/>
                </a:ext>
              </a:extLst>
            </p:cNvPr>
            <p:cNvCxnSpPr>
              <a:cxnSpLocks/>
              <a:stCxn id="2" idx="6"/>
              <a:endCxn id="3" idx="6"/>
            </p:cNvCxnSpPr>
            <p:nvPr/>
          </p:nvCxnSpPr>
          <p:spPr>
            <a:xfrm flipV="1">
              <a:off x="7129817" y="2708368"/>
              <a:ext cx="254753" cy="3639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E7C0F43B-45B2-CE2C-AE0A-0E6979FFB998}"/>
                </a:ext>
              </a:extLst>
            </p:cNvPr>
            <p:cNvCxnSpPr>
              <a:cxnSpLocks/>
              <a:stCxn id="3" idx="6"/>
              <a:endCxn id="6" idx="6"/>
            </p:cNvCxnSpPr>
            <p:nvPr/>
          </p:nvCxnSpPr>
          <p:spPr>
            <a:xfrm flipV="1">
              <a:off x="7384570" y="2697638"/>
              <a:ext cx="254513" cy="1073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9723A948-2EFB-F206-4E32-89E2E247574B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7551913" y="2613847"/>
              <a:ext cx="541441" cy="8300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D0B9EC28-CDBB-1FDB-5B85-D73B7509A834}"/>
                </a:ext>
              </a:extLst>
            </p:cNvPr>
            <p:cNvCxnSpPr>
              <a:cxnSpLocks/>
              <a:stCxn id="8" idx="5"/>
              <a:endCxn id="11" idx="5"/>
            </p:cNvCxnSpPr>
            <p:nvPr/>
          </p:nvCxnSpPr>
          <p:spPr>
            <a:xfrm>
              <a:off x="8236395" y="2673096"/>
              <a:ext cx="226651" cy="20041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22A6117-3130-0F19-812B-998C2FDD8146}"/>
                </a:ext>
              </a:extLst>
            </p:cNvPr>
            <p:cNvSpPr/>
            <p:nvPr/>
          </p:nvSpPr>
          <p:spPr>
            <a:xfrm>
              <a:off x="6962234" y="2660969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E074EEE3-AB99-6AE3-AC29-A90D00C14C26}"/>
                </a:ext>
              </a:extLst>
            </p:cNvPr>
            <p:cNvSpPr/>
            <p:nvPr/>
          </p:nvSpPr>
          <p:spPr>
            <a:xfrm>
              <a:off x="7216987" y="262457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FAEF3B1-054C-DE2F-D47D-8B29C9E4159B}"/>
                </a:ext>
              </a:extLst>
            </p:cNvPr>
            <p:cNvSpPr/>
            <p:nvPr/>
          </p:nvSpPr>
          <p:spPr>
            <a:xfrm>
              <a:off x="7471500" y="261384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D35AFD2F-61EF-B8C0-50FC-96658A5418B1}"/>
                </a:ext>
              </a:extLst>
            </p:cNvPr>
            <p:cNvSpPr/>
            <p:nvPr/>
          </p:nvSpPr>
          <p:spPr>
            <a:xfrm>
              <a:off x="8093354" y="2530055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7EF6EC8-3307-2BE1-40A0-CECF8A93E6E6}"/>
                </a:ext>
              </a:extLst>
            </p:cNvPr>
            <p:cNvSpPr/>
            <p:nvPr/>
          </p:nvSpPr>
          <p:spPr>
            <a:xfrm>
              <a:off x="8320005" y="2730474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8FB614D3-209C-B695-900B-316F7518368A}"/>
                </a:ext>
              </a:extLst>
            </p:cNvPr>
            <p:cNvCxnSpPr>
              <a:cxnSpLocks/>
              <a:stCxn id="38" idx="6"/>
              <a:endCxn id="39" idx="6"/>
            </p:cNvCxnSpPr>
            <p:nvPr/>
          </p:nvCxnSpPr>
          <p:spPr>
            <a:xfrm flipV="1">
              <a:off x="9099159" y="2707500"/>
              <a:ext cx="293226" cy="2574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991A5A3E-C693-276F-B6A0-309707FFCFE9}"/>
                </a:ext>
              </a:extLst>
            </p:cNvPr>
            <p:cNvCxnSpPr>
              <a:cxnSpLocks/>
              <a:stCxn id="39" idx="6"/>
              <a:endCxn id="40" idx="6"/>
            </p:cNvCxnSpPr>
            <p:nvPr/>
          </p:nvCxnSpPr>
          <p:spPr>
            <a:xfrm flipV="1">
              <a:off x="9392385" y="2692401"/>
              <a:ext cx="265737" cy="1509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15EA1B2-BA38-40A2-5F70-B154E60D3F5D}"/>
                </a:ext>
              </a:extLst>
            </p:cNvPr>
            <p:cNvCxnSpPr>
              <a:cxnSpLocks/>
              <a:stCxn id="40" idx="3"/>
              <a:endCxn id="41" idx="2"/>
            </p:cNvCxnSpPr>
            <p:nvPr/>
          </p:nvCxnSpPr>
          <p:spPr>
            <a:xfrm flipV="1">
              <a:off x="9515081" y="2569160"/>
              <a:ext cx="427919" cy="1824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CF991893-CBA1-0869-89A9-70B72EDACBB4}"/>
                </a:ext>
              </a:extLst>
            </p:cNvPr>
            <p:cNvCxnSpPr>
              <a:cxnSpLocks/>
              <a:stCxn id="41" idx="5"/>
              <a:endCxn id="42" idx="5"/>
            </p:cNvCxnSpPr>
            <p:nvPr/>
          </p:nvCxnSpPr>
          <p:spPr>
            <a:xfrm>
              <a:off x="10086041" y="2628409"/>
              <a:ext cx="342118" cy="2451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EC7ACC6-A36B-87B9-07FB-99F721F88EF0}"/>
                </a:ext>
              </a:extLst>
            </p:cNvPr>
            <p:cNvSpPr/>
            <p:nvPr/>
          </p:nvSpPr>
          <p:spPr>
            <a:xfrm>
              <a:off x="8931576" y="264945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6B89C31A-6E04-C623-5A38-7D2E5498D2A1}"/>
                </a:ext>
              </a:extLst>
            </p:cNvPr>
            <p:cNvSpPr/>
            <p:nvPr/>
          </p:nvSpPr>
          <p:spPr>
            <a:xfrm>
              <a:off x="9224802" y="2623708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1090501D-5DFE-7D1F-D206-3FA34962E1AD}"/>
                </a:ext>
              </a:extLst>
            </p:cNvPr>
            <p:cNvSpPr/>
            <p:nvPr/>
          </p:nvSpPr>
          <p:spPr>
            <a:xfrm>
              <a:off x="9490539" y="2608609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074D91E-E21C-6509-08C5-755F026B9F3D}"/>
                </a:ext>
              </a:extLst>
            </p:cNvPr>
            <p:cNvSpPr/>
            <p:nvPr/>
          </p:nvSpPr>
          <p:spPr>
            <a:xfrm>
              <a:off x="9943000" y="2485368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C624EA22-75EA-05B7-8E8C-C69E725C735E}"/>
                </a:ext>
              </a:extLst>
            </p:cNvPr>
            <p:cNvSpPr/>
            <p:nvPr/>
          </p:nvSpPr>
          <p:spPr>
            <a:xfrm>
              <a:off x="10285118" y="2730474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</a:p>
          </p:txBody>
        </p:sp>
      </p:grpSp>
      <p:pic>
        <p:nvPicPr>
          <p:cNvPr id="51" name="Grafik 50">
            <a:extLst>
              <a:ext uri="{FF2B5EF4-FFF2-40B4-BE49-F238E27FC236}">
                <a16:creationId xmlns:a16="http://schemas.microsoft.com/office/drawing/2014/main" id="{7FAC1ABF-95B7-2F83-18BE-84B640570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917" y="1854001"/>
            <a:ext cx="4861289" cy="247080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096E376F-C349-7A6B-0955-DE8B7C843659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8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18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5189376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0AC237-D862-1C4E-2213-A173EBA1447B}"/>
              </a:ext>
            </a:extLst>
          </p:cNvPr>
          <p:cNvSpPr txBox="1">
            <a:spLocks/>
          </p:cNvSpPr>
          <p:nvPr/>
        </p:nvSpPr>
        <p:spPr>
          <a:xfrm>
            <a:off x="838200" y="1854001"/>
            <a:ext cx="5122800" cy="24819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Take a fish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For every frame of a video…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Position the model in the image 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Bend the model</a:t>
            </a:r>
            <a:endParaRPr lang="en-US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042FCE-6B5D-C7E8-B871-83B1F0546FD1}"/>
              </a:ext>
            </a:extLst>
          </p:cNvPr>
          <p:cNvSpPr/>
          <p:nvPr/>
        </p:nvSpPr>
        <p:spPr>
          <a:xfrm>
            <a:off x="838200" y="1854001"/>
            <a:ext cx="5122800" cy="1890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6B2AE2-8676-5CE5-C053-762E92AAB2B5}"/>
              </a:ext>
            </a:extLst>
          </p:cNvPr>
          <p:cNvSpPr txBox="1">
            <a:spLocks/>
          </p:cNvSpPr>
          <p:nvPr/>
        </p:nvSpPr>
        <p:spPr>
          <a:xfrm>
            <a:off x="838200" y="4590661"/>
            <a:ext cx="5257800" cy="15863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What </a:t>
            </a:r>
            <a:r>
              <a:rPr lang="en-US" b="1" dirty="0"/>
              <a:t>pose</a:t>
            </a:r>
            <a:r>
              <a:rPr lang="en-US" dirty="0"/>
              <a:t> does the fish have?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/>
              <a:t>-&gt; pose estimation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bend the model?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/>
              <a:t>-&gt; later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0C862C2-2853-500E-3EA2-B35B16C9DA51}"/>
              </a:ext>
            </a:extLst>
          </p:cNvPr>
          <p:cNvGrpSpPr/>
          <p:nvPr/>
        </p:nvGrpSpPr>
        <p:grpSpPr>
          <a:xfrm>
            <a:off x="6482612" y="1867290"/>
            <a:ext cx="4865594" cy="2470809"/>
            <a:chOff x="6482612" y="1867290"/>
            <a:chExt cx="4865594" cy="2470809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B009307-2576-3A29-806E-4D2D32254E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50" t="30403" r="31734" b="19384"/>
            <a:stretch/>
          </p:blipFill>
          <p:spPr>
            <a:xfrm flipH="1">
              <a:off x="6482612" y="1867290"/>
              <a:ext cx="4865594" cy="2470809"/>
            </a:xfrm>
            <a:prstGeom prst="rect">
              <a:avLst/>
            </a:prstGeom>
          </p:spPr>
        </p:pic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EA615BB0-AB8C-49EF-F9CE-F49C5BFFAA87}"/>
                </a:ext>
              </a:extLst>
            </p:cNvPr>
            <p:cNvCxnSpPr>
              <a:cxnSpLocks/>
              <a:stCxn id="2" idx="6"/>
              <a:endCxn id="3" idx="6"/>
            </p:cNvCxnSpPr>
            <p:nvPr/>
          </p:nvCxnSpPr>
          <p:spPr>
            <a:xfrm flipV="1">
              <a:off x="7129817" y="2708368"/>
              <a:ext cx="254753" cy="3639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E7C0F43B-45B2-CE2C-AE0A-0E6979FFB998}"/>
                </a:ext>
              </a:extLst>
            </p:cNvPr>
            <p:cNvCxnSpPr>
              <a:cxnSpLocks/>
              <a:stCxn id="3" idx="6"/>
              <a:endCxn id="6" idx="6"/>
            </p:cNvCxnSpPr>
            <p:nvPr/>
          </p:nvCxnSpPr>
          <p:spPr>
            <a:xfrm flipV="1">
              <a:off x="7384570" y="2697638"/>
              <a:ext cx="254513" cy="1073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9723A948-2EFB-F206-4E32-89E2E247574B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7551913" y="2613847"/>
              <a:ext cx="541441" cy="8300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D0B9EC28-CDBB-1FDB-5B85-D73B7509A834}"/>
                </a:ext>
              </a:extLst>
            </p:cNvPr>
            <p:cNvCxnSpPr>
              <a:cxnSpLocks/>
              <a:stCxn id="8" idx="5"/>
              <a:endCxn id="11" idx="5"/>
            </p:cNvCxnSpPr>
            <p:nvPr/>
          </p:nvCxnSpPr>
          <p:spPr>
            <a:xfrm>
              <a:off x="8236395" y="2673096"/>
              <a:ext cx="226651" cy="20041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22A6117-3130-0F19-812B-998C2FDD8146}"/>
                </a:ext>
              </a:extLst>
            </p:cNvPr>
            <p:cNvSpPr/>
            <p:nvPr/>
          </p:nvSpPr>
          <p:spPr>
            <a:xfrm>
              <a:off x="6962234" y="2660969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E074EEE3-AB99-6AE3-AC29-A90D00C14C26}"/>
                </a:ext>
              </a:extLst>
            </p:cNvPr>
            <p:cNvSpPr/>
            <p:nvPr/>
          </p:nvSpPr>
          <p:spPr>
            <a:xfrm>
              <a:off x="7216987" y="262457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FAEF3B1-054C-DE2F-D47D-8B29C9E4159B}"/>
                </a:ext>
              </a:extLst>
            </p:cNvPr>
            <p:cNvSpPr/>
            <p:nvPr/>
          </p:nvSpPr>
          <p:spPr>
            <a:xfrm>
              <a:off x="7471500" y="261384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D35AFD2F-61EF-B8C0-50FC-96658A5418B1}"/>
                </a:ext>
              </a:extLst>
            </p:cNvPr>
            <p:cNvSpPr/>
            <p:nvPr/>
          </p:nvSpPr>
          <p:spPr>
            <a:xfrm>
              <a:off x="8093354" y="2530055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7EF6EC8-3307-2BE1-40A0-CECF8A93E6E6}"/>
                </a:ext>
              </a:extLst>
            </p:cNvPr>
            <p:cNvSpPr/>
            <p:nvPr/>
          </p:nvSpPr>
          <p:spPr>
            <a:xfrm>
              <a:off x="8320005" y="2730474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8FB614D3-209C-B695-900B-316F7518368A}"/>
                </a:ext>
              </a:extLst>
            </p:cNvPr>
            <p:cNvCxnSpPr>
              <a:cxnSpLocks/>
              <a:stCxn id="38" idx="6"/>
              <a:endCxn id="39" idx="6"/>
            </p:cNvCxnSpPr>
            <p:nvPr/>
          </p:nvCxnSpPr>
          <p:spPr>
            <a:xfrm flipV="1">
              <a:off x="9099159" y="2707500"/>
              <a:ext cx="293226" cy="2574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991A5A3E-C693-276F-B6A0-309707FFCFE9}"/>
                </a:ext>
              </a:extLst>
            </p:cNvPr>
            <p:cNvCxnSpPr>
              <a:cxnSpLocks/>
              <a:stCxn id="39" idx="6"/>
              <a:endCxn id="40" idx="6"/>
            </p:cNvCxnSpPr>
            <p:nvPr/>
          </p:nvCxnSpPr>
          <p:spPr>
            <a:xfrm flipV="1">
              <a:off x="9392385" y="2692401"/>
              <a:ext cx="265737" cy="1509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15EA1B2-BA38-40A2-5F70-B154E60D3F5D}"/>
                </a:ext>
              </a:extLst>
            </p:cNvPr>
            <p:cNvCxnSpPr>
              <a:cxnSpLocks/>
              <a:stCxn id="40" idx="3"/>
              <a:endCxn id="41" idx="2"/>
            </p:cNvCxnSpPr>
            <p:nvPr/>
          </p:nvCxnSpPr>
          <p:spPr>
            <a:xfrm flipV="1">
              <a:off x="9515081" y="2569160"/>
              <a:ext cx="427919" cy="1824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CF991893-CBA1-0869-89A9-70B72EDACBB4}"/>
                </a:ext>
              </a:extLst>
            </p:cNvPr>
            <p:cNvCxnSpPr>
              <a:cxnSpLocks/>
              <a:stCxn id="41" idx="5"/>
              <a:endCxn id="42" idx="5"/>
            </p:cNvCxnSpPr>
            <p:nvPr/>
          </p:nvCxnSpPr>
          <p:spPr>
            <a:xfrm>
              <a:off x="10086041" y="2628409"/>
              <a:ext cx="342118" cy="2451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EC7ACC6-A36B-87B9-07FB-99F721F88EF0}"/>
                </a:ext>
              </a:extLst>
            </p:cNvPr>
            <p:cNvSpPr/>
            <p:nvPr/>
          </p:nvSpPr>
          <p:spPr>
            <a:xfrm>
              <a:off x="8931576" y="2649456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6B89C31A-6E04-C623-5A38-7D2E5498D2A1}"/>
                </a:ext>
              </a:extLst>
            </p:cNvPr>
            <p:cNvSpPr/>
            <p:nvPr/>
          </p:nvSpPr>
          <p:spPr>
            <a:xfrm>
              <a:off x="9224802" y="2623708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1090501D-5DFE-7D1F-D206-3FA34962E1AD}"/>
                </a:ext>
              </a:extLst>
            </p:cNvPr>
            <p:cNvSpPr/>
            <p:nvPr/>
          </p:nvSpPr>
          <p:spPr>
            <a:xfrm>
              <a:off x="9490539" y="2608609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074D91E-E21C-6509-08C5-755F026B9F3D}"/>
                </a:ext>
              </a:extLst>
            </p:cNvPr>
            <p:cNvSpPr/>
            <p:nvPr/>
          </p:nvSpPr>
          <p:spPr>
            <a:xfrm>
              <a:off x="9943000" y="2485368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C624EA22-75EA-05B7-8E8C-C69E725C735E}"/>
                </a:ext>
              </a:extLst>
            </p:cNvPr>
            <p:cNvSpPr/>
            <p:nvPr/>
          </p:nvSpPr>
          <p:spPr>
            <a:xfrm>
              <a:off x="10285118" y="2730474"/>
              <a:ext cx="167583" cy="167583"/>
            </a:xfrm>
            <a:prstGeom prst="ellipse">
              <a:avLst/>
            </a:prstGeom>
            <a:solidFill>
              <a:srgbClr val="59C7EB"/>
            </a:solidFill>
            <a:ln>
              <a:solidFill>
                <a:srgbClr val="59C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531E925B-A93D-7118-A010-85583124A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692" b="90110" l="8054" r="91275">
                          <a14:foregroundMark x1="9396" y1="57143" x2="8389" y2="53846"/>
                          <a14:foregroundMark x1="36577" y1="90110" x2="36577" y2="90110"/>
                          <a14:foregroundMark x1="87248" y1="28571" x2="87248" y2="28571"/>
                          <a14:foregroundMark x1="89262" y1="19780" x2="89262" y2="19780"/>
                          <a14:foregroundMark x1="91275" y1="12088" x2="91275" y2="12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6956268" y="2508642"/>
              <a:ext cx="1786602" cy="545573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07E3159-5829-21B7-707F-B0CB869FA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692" b="90110" l="8054" r="91275">
                          <a14:foregroundMark x1="9396" y1="57143" x2="8389" y2="53846"/>
                          <a14:foregroundMark x1="36577" y1="90110" x2="36577" y2="90110"/>
                          <a14:foregroundMark x1="87248" y1="28571" x2="87248" y2="28571"/>
                          <a14:foregroundMark x1="89262" y1="19780" x2="89262" y2="19780"/>
                          <a14:foregroundMark x1="91275" y1="12088" x2="91275" y2="12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8919210" y="2508642"/>
              <a:ext cx="1786602" cy="545573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91A9235F-4C0D-F5EE-FC26-5700AD885C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917" y="1854001"/>
            <a:ext cx="4861289" cy="247080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E9B14F0-36F4-A445-A0B4-38517B01B5A8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203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u="sng" dirty="0"/>
              <a:t>Used in DeepShapeKit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sz="3600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/>
              <a:t>Mask R-CNN</a:t>
            </a:r>
          </a:p>
          <a:p>
            <a:pPr marL="971550" lvl="1" indent="-514350">
              <a:buFont typeface="Arial" panose="020B0604020202020204" pitchFamily="34" charset="0"/>
              <a:buChar char="→"/>
            </a:pPr>
            <a:r>
              <a:rPr lang="en-US" sz="2800" dirty="0"/>
              <a:t>For instance segmentation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dirty="0"/>
          </a:p>
          <a:p>
            <a:endParaRPr lang="en-US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 err="1"/>
              <a:t>DeepLabCut</a:t>
            </a:r>
            <a:endParaRPr lang="en-US" sz="3600" dirty="0"/>
          </a:p>
          <a:p>
            <a:pPr marL="1028700" lvl="1" indent="-571500">
              <a:buFont typeface="Arial" panose="020B0604020202020204" pitchFamily="34" charset="0"/>
              <a:buChar char="→"/>
            </a:pPr>
            <a:r>
              <a:rPr lang="en-US" sz="2800" dirty="0"/>
              <a:t>For pose estimation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89174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Related</a:t>
            </a:r>
            <a:r>
              <a:rPr lang="de-DE" dirty="0"/>
              <a:t> Work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889DAC5-01B2-E020-97C2-1C37B5C8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62" y="1643161"/>
            <a:ext cx="4818458" cy="236240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93995E3-B829-65F4-A650-472D5D03A47C}"/>
              </a:ext>
            </a:extLst>
          </p:cNvPr>
          <p:cNvSpPr txBox="1"/>
          <p:nvPr/>
        </p:nvSpPr>
        <p:spPr>
          <a:xfrm>
            <a:off x="6426662" y="5819770"/>
            <a:ext cx="4927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[Mathis, A.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et al.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(2018)]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A5F846E-5DD1-0B68-B812-F573E514C3AE}"/>
              </a:ext>
            </a:extLst>
          </p:cNvPr>
          <p:cNvSpPr txBox="1"/>
          <p:nvPr/>
        </p:nvSpPr>
        <p:spPr>
          <a:xfrm>
            <a:off x="6276000" y="3846847"/>
            <a:ext cx="5093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[He, K.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et al.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(2020)]</a:t>
            </a:r>
          </a:p>
        </p:txBody>
      </p:sp>
    </p:spTree>
    <p:extLst>
      <p:ext uri="{BB962C8B-B14F-4D97-AF65-F5344CB8AC3E}">
        <p14:creationId xmlns:p14="http://schemas.microsoft.com/office/powerpoint/2010/main" val="1829032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20659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3600" u="sng" dirty="0"/>
              <a:t>Other approaches</a:t>
            </a:r>
          </a:p>
          <a:p>
            <a:endParaRPr lang="en-US" sz="3600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 err="1"/>
              <a:t>AvianMesh</a:t>
            </a:r>
            <a:endParaRPr lang="en-US" sz="3600" dirty="0"/>
          </a:p>
          <a:p>
            <a:pPr marL="1028700" lvl="1" indent="-571500">
              <a:buFont typeface="Arial" panose="020B0604020202020204" pitchFamily="34" charset="0"/>
              <a:buChar char="→"/>
            </a:pPr>
            <a:r>
              <a:rPr lang="en-US" sz="3200" dirty="0"/>
              <a:t>3D reconstruction using a pre-created model</a:t>
            </a:r>
          </a:p>
          <a:p>
            <a:endParaRPr lang="en-US" sz="3600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/>
              <a:t>LASR</a:t>
            </a:r>
          </a:p>
          <a:p>
            <a:pPr marL="1028700" lvl="1" indent="-571500">
              <a:buFont typeface="Arial" panose="020B0604020202020204" pitchFamily="34" charset="0"/>
              <a:buChar char="→"/>
            </a:pPr>
            <a:r>
              <a:rPr lang="en-US" sz="3200" dirty="0"/>
              <a:t>4D reconstruction by learning how to construct a mesh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20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89174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Related</a:t>
            </a:r>
            <a:r>
              <a:rPr lang="de-DE" dirty="0"/>
              <a:t> Work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93995E3-B829-65F4-A650-472D5D03A47C}"/>
              </a:ext>
            </a:extLst>
          </p:cNvPr>
          <p:cNvSpPr txBox="1"/>
          <p:nvPr/>
        </p:nvSpPr>
        <p:spPr>
          <a:xfrm>
            <a:off x="7052683" y="5701171"/>
            <a:ext cx="4309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[Yang, G.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et al.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(2021)]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A5F846E-5DD1-0B68-B812-F573E514C3AE}"/>
              </a:ext>
            </a:extLst>
          </p:cNvPr>
          <p:cNvSpPr txBox="1"/>
          <p:nvPr/>
        </p:nvSpPr>
        <p:spPr>
          <a:xfrm>
            <a:off x="7044797" y="3785382"/>
            <a:ext cx="4309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da-DK" sz="1400" dirty="0">
                <a:latin typeface="Arial" panose="020B0604020202020204" pitchFamily="34" charset="0"/>
                <a:cs typeface="Arial" panose="020B0604020202020204" pitchFamily="34" charset="0"/>
              </a:rPr>
              <a:t>Badger, M. </a:t>
            </a:r>
            <a:r>
              <a:rPr lang="da-DK" sz="1400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da-DK" sz="1400" dirty="0">
                <a:latin typeface="Arial" panose="020B0604020202020204" pitchFamily="34" charset="0"/>
                <a:cs typeface="Arial" panose="020B0604020202020204" pitchFamily="34" charset="0"/>
              </a:rPr>
              <a:t> (2020)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CA88B72-0816-29C3-2F92-C8B51372D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00" y="1767246"/>
            <a:ext cx="4806589" cy="20181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F31F3E1-81F3-0E74-83C3-AA45B569D8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855"/>
          <a:stretch/>
        </p:blipFill>
        <p:spPr>
          <a:xfrm>
            <a:off x="7626687" y="4317587"/>
            <a:ext cx="3734999" cy="132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9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Symbol" panose="05050102010706020507" pitchFamily="18" charset="2"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21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E28976-8955-024A-2899-5B1E356CC4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74"/>
          <a:stretch/>
        </p:blipFill>
        <p:spPr>
          <a:xfrm>
            <a:off x="46653" y="1405309"/>
            <a:ext cx="12098694" cy="428096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C3B57A9-DE4D-3A7B-E04E-159899850412}"/>
              </a:ext>
            </a:extLst>
          </p:cNvPr>
          <p:cNvSpPr txBox="1"/>
          <p:nvPr/>
        </p:nvSpPr>
        <p:spPr>
          <a:xfrm>
            <a:off x="7466257" y="5938391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89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bg1"/>
                </a:solidFill>
              </a:rPr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017" t="38289" r="31281" b="47667"/>
          <a:stretch/>
        </p:blipFill>
        <p:spPr>
          <a:xfrm>
            <a:off x="1108713" y="3114000"/>
            <a:ext cx="6337287" cy="2115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798AED0-3412-E18B-1FD8-50EA221C0AC0}"/>
              </a:ext>
            </a:extLst>
          </p:cNvPr>
          <p:cNvSpPr txBox="1"/>
          <p:nvPr/>
        </p:nvSpPr>
        <p:spPr>
          <a:xfrm>
            <a:off x="7375572" y="5887393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9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bg1"/>
                </a:solidFill>
              </a:rPr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7" t="38289" r="31281" b="47667"/>
          <a:stretch/>
        </p:blipFill>
        <p:spPr>
          <a:xfrm>
            <a:off x="1108713" y="3114000"/>
            <a:ext cx="6337287" cy="2115000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396986C-A62E-7521-325F-AC1A34EACB2E}"/>
              </a:ext>
            </a:extLst>
          </p:cNvPr>
          <p:cNvGrpSpPr/>
          <p:nvPr/>
        </p:nvGrpSpPr>
        <p:grpSpPr>
          <a:xfrm>
            <a:off x="7131000" y="815166"/>
            <a:ext cx="4906353" cy="2190310"/>
            <a:chOff x="7982968" y="3061278"/>
            <a:chExt cx="4906353" cy="2190310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35CE5846-5007-1441-EE53-D9DF1E07C72C}"/>
                </a:ext>
              </a:extLst>
            </p:cNvPr>
            <p:cNvGrpSpPr/>
            <p:nvPr/>
          </p:nvGrpSpPr>
          <p:grpSpPr>
            <a:xfrm>
              <a:off x="7982968" y="3344723"/>
              <a:ext cx="3397812" cy="1906865"/>
              <a:chOff x="7982968" y="3344723"/>
              <a:chExt cx="3397812" cy="1906865"/>
            </a:xfrm>
          </p:grpSpPr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CA6872D-22C2-22E6-02D0-51376EB40E93}"/>
                  </a:ext>
                </a:extLst>
              </p:cNvPr>
              <p:cNvSpPr txBox="1">
                <a:spLocks/>
              </p:cNvSpPr>
              <p:nvPr/>
            </p:nvSpPr>
            <p:spPr>
              <a:xfrm rot="21235340">
                <a:off x="8027786" y="4689595"/>
                <a:ext cx="3352994" cy="5619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A9E0"/>
                  </a:buClr>
                  <a:buSzTx/>
                  <a:buFont typeface="Arial" panose="020B0604020202020204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Bone length</a:t>
                </a:r>
              </a:p>
            </p:txBody>
          </p: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61C1561A-376C-62E1-1CB7-56952A400576}"/>
                  </a:ext>
                </a:extLst>
              </p:cNvPr>
              <p:cNvGrpSpPr/>
              <p:nvPr/>
            </p:nvGrpSpPr>
            <p:grpSpPr>
              <a:xfrm>
                <a:off x="7982968" y="3344723"/>
                <a:ext cx="3066062" cy="1332649"/>
                <a:chOff x="1240403" y="3498050"/>
                <a:chExt cx="3066062" cy="1332649"/>
              </a:xfrm>
            </p:grpSpPr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35C07B27-CE5A-96C6-1D24-5EA4C0F8C2D8}"/>
                    </a:ext>
                  </a:extLst>
                </p:cNvPr>
                <p:cNvGrpSpPr/>
                <p:nvPr/>
              </p:nvGrpSpPr>
              <p:grpSpPr>
                <a:xfrm rot="21213870">
                  <a:off x="1242554" y="3498050"/>
                  <a:ext cx="1843233" cy="1332649"/>
                  <a:chOff x="1235868" y="3583223"/>
                  <a:chExt cx="1843233" cy="1332649"/>
                </a:xfrm>
              </p:grpSpPr>
              <p:grpSp>
                <p:nvGrpSpPr>
                  <p:cNvPr id="19" name="Gruppieren 18">
                    <a:extLst>
                      <a:ext uri="{FF2B5EF4-FFF2-40B4-BE49-F238E27FC236}">
                        <a16:creationId xmlns:a16="http://schemas.microsoft.com/office/drawing/2014/main" id="{8519E9B8-B523-67A6-C097-D5342270C5A3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493165" y="3325926"/>
                    <a:ext cx="1328640" cy="1843233"/>
                    <a:chOff x="1647825" y="3008684"/>
                    <a:chExt cx="1328640" cy="1843233"/>
                  </a:xfrm>
                </p:grpSpPr>
                <p:sp>
                  <p:nvSpPr>
                    <p:cNvPr id="22" name="Gleichschenkliges Dreieck 21">
                      <a:extLst>
                        <a:ext uri="{FF2B5EF4-FFF2-40B4-BE49-F238E27FC236}">
                          <a16:creationId xmlns:a16="http://schemas.microsoft.com/office/drawing/2014/main" id="{7BBC4908-E887-F51B-D9C6-3EEC291861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7825" y="3008684"/>
                      <a:ext cx="1190625" cy="1304925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23" name="Gleichschenkliges Dreieck 22">
                      <a:extLst>
                        <a:ext uri="{FF2B5EF4-FFF2-40B4-BE49-F238E27FC236}">
                          <a16:creationId xmlns:a16="http://schemas.microsoft.com/office/drawing/2014/main" id="{E021918F-72B1-F67E-4C36-54C5809E968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647825" y="4313608"/>
                      <a:ext cx="1190624" cy="538309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24" name="Gerader Verbinder 23">
                      <a:extLst>
                        <a:ext uri="{FF2B5EF4-FFF2-40B4-BE49-F238E27FC236}">
                          <a16:creationId xmlns:a16="http://schemas.microsoft.com/office/drawing/2014/main" id="{22CB6807-71D9-7344-B17E-B88C06DB6D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76465" y="3008684"/>
                      <a:ext cx="0" cy="1768589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0" name="Gerader Verbinder 19">
                    <a:extLst>
                      <a:ext uri="{FF2B5EF4-FFF2-40B4-BE49-F238E27FC236}">
                        <a16:creationId xmlns:a16="http://schemas.microsoft.com/office/drawing/2014/main" id="{765F402E-62B7-D434-D47C-8E252793172B}"/>
                      </a:ext>
                    </a:extLst>
                  </p:cNvPr>
                  <p:cNvCxnSpPr/>
                  <p:nvPr/>
                </p:nvCxnSpPr>
                <p:spPr>
                  <a:xfrm>
                    <a:off x="1310512" y="477384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Gerader Verbinder 20">
                    <a:extLst>
                      <a:ext uri="{FF2B5EF4-FFF2-40B4-BE49-F238E27FC236}">
                        <a16:creationId xmlns:a16="http://schemas.microsoft.com/office/drawing/2014/main" id="{B74D6272-A1C1-907C-14CE-FE6B2786B428}"/>
                      </a:ext>
                    </a:extLst>
                  </p:cNvPr>
                  <p:cNvCxnSpPr/>
                  <p:nvPr/>
                </p:nvCxnSpPr>
                <p:spPr>
                  <a:xfrm>
                    <a:off x="3075091" y="477785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3375EE4C-329D-5C49-21E9-4E0E9E99FD17}"/>
                    </a:ext>
                  </a:extLst>
                </p:cNvPr>
                <p:cNvCxnSpPr>
                  <a:cxnSpLocks/>
                  <a:stCxn id="23" idx="0"/>
                </p:cNvCxnSpPr>
                <p:nvPr/>
              </p:nvCxnSpPr>
              <p:spPr>
                <a:xfrm flipV="1">
                  <a:off x="1240403" y="3838575"/>
                  <a:ext cx="3066062" cy="358534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4B35AF42-22BE-F4AA-6E01-658D7A54D2B1}"/>
                </a:ext>
              </a:extLst>
            </p:cNvPr>
            <p:cNvSpPr txBox="1">
              <a:spLocks/>
            </p:cNvSpPr>
            <p:nvPr/>
          </p:nvSpPr>
          <p:spPr>
            <a:xfrm rot="21235340">
              <a:off x="9536327" y="3061278"/>
              <a:ext cx="3352994" cy="56199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Bone orientation</a:t>
              </a: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7E62F481-F6CA-A604-499D-F03CFBB511E6}"/>
              </a:ext>
            </a:extLst>
          </p:cNvPr>
          <p:cNvSpPr txBox="1"/>
          <p:nvPr/>
        </p:nvSpPr>
        <p:spPr>
          <a:xfrm>
            <a:off x="7375572" y="5887393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417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bg1"/>
                </a:solidFill>
              </a:rPr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7" t="38289" r="31281" b="47667"/>
          <a:stretch/>
        </p:blipFill>
        <p:spPr>
          <a:xfrm>
            <a:off x="1108713" y="3114000"/>
            <a:ext cx="6337287" cy="2115000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9F3C457-95F4-4B0C-2FC6-1E2CF6BEB8AF}"/>
              </a:ext>
            </a:extLst>
          </p:cNvPr>
          <p:cNvGrpSpPr/>
          <p:nvPr/>
        </p:nvGrpSpPr>
        <p:grpSpPr>
          <a:xfrm>
            <a:off x="7131000" y="815166"/>
            <a:ext cx="4906353" cy="2190310"/>
            <a:chOff x="7982968" y="3061278"/>
            <a:chExt cx="4906353" cy="219031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92DEE5B-5FAF-71F8-0666-2C6BB7D9E44F}"/>
                </a:ext>
              </a:extLst>
            </p:cNvPr>
            <p:cNvGrpSpPr/>
            <p:nvPr/>
          </p:nvGrpSpPr>
          <p:grpSpPr>
            <a:xfrm>
              <a:off x="7982968" y="3344723"/>
              <a:ext cx="3397812" cy="1906865"/>
              <a:chOff x="7982968" y="3344723"/>
              <a:chExt cx="3397812" cy="1906865"/>
            </a:xfrm>
          </p:grpSpPr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35E9A99-F2E5-19F3-EB85-D5834E1A67D4}"/>
                  </a:ext>
                </a:extLst>
              </p:cNvPr>
              <p:cNvSpPr txBox="1">
                <a:spLocks/>
              </p:cNvSpPr>
              <p:nvPr/>
            </p:nvSpPr>
            <p:spPr>
              <a:xfrm rot="21235340">
                <a:off x="8027786" y="4689595"/>
                <a:ext cx="3352994" cy="5619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A9E0"/>
                  </a:buClr>
                  <a:buSzTx/>
                  <a:buFont typeface="Arial" panose="020B0604020202020204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Bone length</a:t>
                </a:r>
              </a:p>
            </p:txBody>
          </p: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DB7BD35D-37F6-C21C-A9B9-089B3E11E6D3}"/>
                  </a:ext>
                </a:extLst>
              </p:cNvPr>
              <p:cNvGrpSpPr/>
              <p:nvPr/>
            </p:nvGrpSpPr>
            <p:grpSpPr>
              <a:xfrm>
                <a:off x="7982968" y="3344723"/>
                <a:ext cx="3066062" cy="1332649"/>
                <a:chOff x="1240403" y="3498050"/>
                <a:chExt cx="3066062" cy="1332649"/>
              </a:xfrm>
            </p:grpSpPr>
            <p:grpSp>
              <p:nvGrpSpPr>
                <p:cNvPr id="10" name="Gruppieren 9">
                  <a:extLst>
                    <a:ext uri="{FF2B5EF4-FFF2-40B4-BE49-F238E27FC236}">
                      <a16:creationId xmlns:a16="http://schemas.microsoft.com/office/drawing/2014/main" id="{54229883-2254-1DC0-2BC1-4C1B49E4B58D}"/>
                    </a:ext>
                  </a:extLst>
                </p:cNvPr>
                <p:cNvGrpSpPr/>
                <p:nvPr/>
              </p:nvGrpSpPr>
              <p:grpSpPr>
                <a:xfrm rot="21213870">
                  <a:off x="1242554" y="3498050"/>
                  <a:ext cx="1843233" cy="1332649"/>
                  <a:chOff x="1235868" y="3583223"/>
                  <a:chExt cx="1843233" cy="1332649"/>
                </a:xfrm>
              </p:grpSpPr>
              <p:grpSp>
                <p:nvGrpSpPr>
                  <p:cNvPr id="13" name="Gruppieren 12">
                    <a:extLst>
                      <a:ext uri="{FF2B5EF4-FFF2-40B4-BE49-F238E27FC236}">
                        <a16:creationId xmlns:a16="http://schemas.microsoft.com/office/drawing/2014/main" id="{6728CCB4-4B72-E3FE-2DC7-BCFCFC3A491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493165" y="3325926"/>
                    <a:ext cx="1328640" cy="1843233"/>
                    <a:chOff x="1647825" y="3008684"/>
                    <a:chExt cx="1328640" cy="1843233"/>
                  </a:xfrm>
                </p:grpSpPr>
                <p:sp>
                  <p:nvSpPr>
                    <p:cNvPr id="16" name="Gleichschenkliges Dreieck 15">
                      <a:extLst>
                        <a:ext uri="{FF2B5EF4-FFF2-40B4-BE49-F238E27FC236}">
                          <a16:creationId xmlns:a16="http://schemas.microsoft.com/office/drawing/2014/main" id="{2E1D5AA6-2AF0-D2CA-AEA1-EE24A87123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7825" y="3008684"/>
                      <a:ext cx="1190625" cy="1304925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17" name="Gleichschenkliges Dreieck 16">
                      <a:extLst>
                        <a:ext uri="{FF2B5EF4-FFF2-40B4-BE49-F238E27FC236}">
                          <a16:creationId xmlns:a16="http://schemas.microsoft.com/office/drawing/2014/main" id="{4FE39145-1063-4EDE-DD90-48BA3D493B1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647825" y="4313608"/>
                      <a:ext cx="1190624" cy="538309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18" name="Gerader Verbinder 17">
                      <a:extLst>
                        <a:ext uri="{FF2B5EF4-FFF2-40B4-BE49-F238E27FC236}">
                          <a16:creationId xmlns:a16="http://schemas.microsoft.com/office/drawing/2014/main" id="{F41D8160-2046-F806-D076-6A87D7ADD3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76465" y="3008684"/>
                      <a:ext cx="0" cy="1768589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" name="Gerader Verbinder 13">
                    <a:extLst>
                      <a:ext uri="{FF2B5EF4-FFF2-40B4-BE49-F238E27FC236}">
                        <a16:creationId xmlns:a16="http://schemas.microsoft.com/office/drawing/2014/main" id="{AC2C9587-0FE9-5BF1-180B-3F782491686A}"/>
                      </a:ext>
                    </a:extLst>
                  </p:cNvPr>
                  <p:cNvCxnSpPr/>
                  <p:nvPr/>
                </p:nvCxnSpPr>
                <p:spPr>
                  <a:xfrm>
                    <a:off x="1310512" y="477384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Gerader Verbinder 14">
                    <a:extLst>
                      <a:ext uri="{FF2B5EF4-FFF2-40B4-BE49-F238E27FC236}">
                        <a16:creationId xmlns:a16="http://schemas.microsoft.com/office/drawing/2014/main" id="{4A82B896-8809-E942-57AE-887187303242}"/>
                      </a:ext>
                    </a:extLst>
                  </p:cNvPr>
                  <p:cNvCxnSpPr/>
                  <p:nvPr/>
                </p:nvCxnSpPr>
                <p:spPr>
                  <a:xfrm>
                    <a:off x="3075091" y="477785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70972547-11AF-E3EF-C582-56477EDB4AC2}"/>
                    </a:ext>
                  </a:extLst>
                </p:cNvPr>
                <p:cNvCxnSpPr>
                  <a:cxnSpLocks/>
                  <a:stCxn id="17" idx="0"/>
                </p:cNvCxnSpPr>
                <p:nvPr/>
              </p:nvCxnSpPr>
              <p:spPr>
                <a:xfrm flipV="1">
                  <a:off x="1240403" y="3838575"/>
                  <a:ext cx="3066062" cy="358534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D59D73A8-00F4-3959-D716-21399FFD9043}"/>
                </a:ext>
              </a:extLst>
            </p:cNvPr>
            <p:cNvSpPr txBox="1">
              <a:spLocks/>
            </p:cNvSpPr>
            <p:nvPr/>
          </p:nvSpPr>
          <p:spPr>
            <a:xfrm rot="21235340">
              <a:off x="9536327" y="3061278"/>
              <a:ext cx="3352994" cy="56199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Bone orientation</a:t>
              </a:r>
            </a:p>
          </p:txBody>
        </p:sp>
      </p:grp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CBDD30F-DB68-1922-4B99-2DD1A68CAAB8}"/>
              </a:ext>
            </a:extLst>
          </p:cNvPr>
          <p:cNvCxnSpPr>
            <a:cxnSpLocks/>
          </p:cNvCxnSpPr>
          <p:nvPr/>
        </p:nvCxnSpPr>
        <p:spPr>
          <a:xfrm>
            <a:off x="5363549" y="2885355"/>
            <a:ext cx="0" cy="3019244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20889A5-B8D4-9F78-3C96-D37FDB9336AB}"/>
              </a:ext>
            </a:extLst>
          </p:cNvPr>
          <p:cNvSpPr txBox="1">
            <a:spLocks/>
          </p:cNvSpPr>
          <p:nvPr/>
        </p:nvSpPr>
        <p:spPr>
          <a:xfrm>
            <a:off x="1086824" y="5342606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Head orientation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3D2D3-C27D-E575-5461-0ED8FBCE5FA2}"/>
              </a:ext>
            </a:extLst>
          </p:cNvPr>
          <p:cNvSpPr txBox="1">
            <a:spLocks/>
          </p:cNvSpPr>
          <p:nvPr/>
        </p:nvSpPr>
        <p:spPr>
          <a:xfrm>
            <a:off x="5442471" y="5318877"/>
            <a:ext cx="2652614" cy="585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Tail orientation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53AD1FD-E069-3022-2127-36BB16D2164F}"/>
              </a:ext>
            </a:extLst>
          </p:cNvPr>
          <p:cNvCxnSpPr/>
          <p:nvPr/>
        </p:nvCxnSpPr>
        <p:spPr>
          <a:xfrm>
            <a:off x="1371000" y="4329000"/>
            <a:ext cx="19008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C058BF3-CFF1-9F32-736E-734B21039393}"/>
              </a:ext>
            </a:extLst>
          </p:cNvPr>
          <p:cNvCxnSpPr/>
          <p:nvPr/>
        </p:nvCxnSpPr>
        <p:spPr>
          <a:xfrm flipH="1">
            <a:off x="1561089" y="4329000"/>
            <a:ext cx="39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92F6333-BC52-8F74-BAAB-044731A6DBC7}"/>
              </a:ext>
            </a:extLst>
          </p:cNvPr>
          <p:cNvCxnSpPr/>
          <p:nvPr/>
        </p:nvCxnSpPr>
        <p:spPr>
          <a:xfrm flipH="1">
            <a:off x="1561089" y="4329000"/>
            <a:ext cx="84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777830C-6329-FC02-7A0E-8E9C2C5495F0}"/>
              </a:ext>
            </a:extLst>
          </p:cNvPr>
          <p:cNvCxnSpPr/>
          <p:nvPr/>
        </p:nvCxnSpPr>
        <p:spPr>
          <a:xfrm flipH="1">
            <a:off x="1561089" y="4329000"/>
            <a:ext cx="142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EA18E7F-F39B-B404-6046-4B4F09A4E7FE}"/>
              </a:ext>
            </a:extLst>
          </p:cNvPr>
          <p:cNvCxnSpPr/>
          <p:nvPr/>
        </p:nvCxnSpPr>
        <p:spPr>
          <a:xfrm flipH="1">
            <a:off x="1561089" y="4329000"/>
            <a:ext cx="196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2FC3443-4270-BB5A-DD58-D9E73CD656C3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4775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59180F1-EDBD-47B6-235C-F66DFF84ACDE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87872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1963B87-0008-957C-6A5D-E6257FDADCF2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345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BA7C4FC-91C3-8113-B852-73E46E56EDC4}"/>
              </a:ext>
            </a:extLst>
          </p:cNvPr>
          <p:cNvCxnSpPr>
            <a:cxnSpLocks/>
          </p:cNvCxnSpPr>
          <p:nvPr/>
        </p:nvCxnSpPr>
        <p:spPr>
          <a:xfrm>
            <a:off x="5495037" y="4260457"/>
            <a:ext cx="402418" cy="9925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5943D28-B713-2A56-9C0F-0AE88F3091C9}"/>
              </a:ext>
            </a:extLst>
          </p:cNvPr>
          <p:cNvCxnSpPr>
            <a:cxnSpLocks/>
          </p:cNvCxnSpPr>
          <p:nvPr/>
        </p:nvCxnSpPr>
        <p:spPr>
          <a:xfrm flipH="1">
            <a:off x="5891080" y="4243329"/>
            <a:ext cx="15006" cy="9856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40F000F-BD4D-47D8-EB4B-E72A8C281C8D}"/>
              </a:ext>
            </a:extLst>
          </p:cNvPr>
          <p:cNvCxnSpPr>
            <a:cxnSpLocks/>
          </p:cNvCxnSpPr>
          <p:nvPr/>
        </p:nvCxnSpPr>
        <p:spPr>
          <a:xfrm flipH="1">
            <a:off x="5891079" y="4243329"/>
            <a:ext cx="542537" cy="10096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6DB8635D-9FBC-9ACA-0F6B-477DE77EF3DE}"/>
              </a:ext>
            </a:extLst>
          </p:cNvPr>
          <p:cNvSpPr txBox="1"/>
          <p:nvPr/>
        </p:nvSpPr>
        <p:spPr>
          <a:xfrm>
            <a:off x="5151000" y="5887393"/>
            <a:ext cx="6184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19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bg1"/>
                </a:solidFill>
              </a:rPr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7" t="38289" r="31281" b="47667"/>
          <a:stretch/>
        </p:blipFill>
        <p:spPr>
          <a:xfrm>
            <a:off x="1108713" y="3114000"/>
            <a:ext cx="6337287" cy="211500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E34F656-FBA4-6F14-FCBD-5AE2B6DF7F8B}"/>
              </a:ext>
            </a:extLst>
          </p:cNvPr>
          <p:cNvCxnSpPr>
            <a:cxnSpLocks/>
          </p:cNvCxnSpPr>
          <p:nvPr/>
        </p:nvCxnSpPr>
        <p:spPr>
          <a:xfrm flipV="1">
            <a:off x="1108714" y="4087067"/>
            <a:ext cx="6202286" cy="13228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E4F7358-41DE-CA8D-7637-15E61FBF9FC1}"/>
              </a:ext>
            </a:extLst>
          </p:cNvPr>
          <p:cNvSpPr txBox="1"/>
          <p:nvPr/>
        </p:nvSpPr>
        <p:spPr>
          <a:xfrm>
            <a:off x="1561089" y="3613998"/>
            <a:ext cx="3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de-DE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endParaRPr lang="de-DE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9F3C457-95F4-4B0C-2FC6-1E2CF6BEB8AF}"/>
              </a:ext>
            </a:extLst>
          </p:cNvPr>
          <p:cNvGrpSpPr/>
          <p:nvPr/>
        </p:nvGrpSpPr>
        <p:grpSpPr>
          <a:xfrm>
            <a:off x="7131000" y="815166"/>
            <a:ext cx="4906353" cy="2190310"/>
            <a:chOff x="7982968" y="3061278"/>
            <a:chExt cx="4906353" cy="219031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92DEE5B-5FAF-71F8-0666-2C6BB7D9E44F}"/>
                </a:ext>
              </a:extLst>
            </p:cNvPr>
            <p:cNvGrpSpPr/>
            <p:nvPr/>
          </p:nvGrpSpPr>
          <p:grpSpPr>
            <a:xfrm>
              <a:off x="7982968" y="3344723"/>
              <a:ext cx="3397812" cy="1906865"/>
              <a:chOff x="7982968" y="3344723"/>
              <a:chExt cx="3397812" cy="1906865"/>
            </a:xfrm>
          </p:grpSpPr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35E9A99-F2E5-19F3-EB85-D5834E1A67D4}"/>
                  </a:ext>
                </a:extLst>
              </p:cNvPr>
              <p:cNvSpPr txBox="1">
                <a:spLocks/>
              </p:cNvSpPr>
              <p:nvPr/>
            </p:nvSpPr>
            <p:spPr>
              <a:xfrm rot="21235340">
                <a:off x="8027786" y="4689595"/>
                <a:ext cx="3352994" cy="5619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A9E0"/>
                  </a:buClr>
                  <a:buSzTx/>
                  <a:buFont typeface="Arial" panose="020B0604020202020204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Bone length</a:t>
                </a:r>
              </a:p>
            </p:txBody>
          </p: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DB7BD35D-37F6-C21C-A9B9-089B3E11E6D3}"/>
                  </a:ext>
                </a:extLst>
              </p:cNvPr>
              <p:cNvGrpSpPr/>
              <p:nvPr/>
            </p:nvGrpSpPr>
            <p:grpSpPr>
              <a:xfrm>
                <a:off x="7982968" y="3344723"/>
                <a:ext cx="3066062" cy="1332649"/>
                <a:chOff x="1240403" y="3498050"/>
                <a:chExt cx="3066062" cy="1332649"/>
              </a:xfrm>
            </p:grpSpPr>
            <p:grpSp>
              <p:nvGrpSpPr>
                <p:cNvPr id="10" name="Gruppieren 9">
                  <a:extLst>
                    <a:ext uri="{FF2B5EF4-FFF2-40B4-BE49-F238E27FC236}">
                      <a16:creationId xmlns:a16="http://schemas.microsoft.com/office/drawing/2014/main" id="{54229883-2254-1DC0-2BC1-4C1B49E4B58D}"/>
                    </a:ext>
                  </a:extLst>
                </p:cNvPr>
                <p:cNvGrpSpPr/>
                <p:nvPr/>
              </p:nvGrpSpPr>
              <p:grpSpPr>
                <a:xfrm rot="21213870">
                  <a:off x="1242554" y="3498050"/>
                  <a:ext cx="1843233" cy="1332649"/>
                  <a:chOff x="1235868" y="3583223"/>
                  <a:chExt cx="1843233" cy="1332649"/>
                </a:xfrm>
              </p:grpSpPr>
              <p:grpSp>
                <p:nvGrpSpPr>
                  <p:cNvPr id="13" name="Gruppieren 12">
                    <a:extLst>
                      <a:ext uri="{FF2B5EF4-FFF2-40B4-BE49-F238E27FC236}">
                        <a16:creationId xmlns:a16="http://schemas.microsoft.com/office/drawing/2014/main" id="{6728CCB4-4B72-E3FE-2DC7-BCFCFC3A491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493165" y="3325926"/>
                    <a:ext cx="1328640" cy="1843233"/>
                    <a:chOff x="1647825" y="3008684"/>
                    <a:chExt cx="1328640" cy="1843233"/>
                  </a:xfrm>
                </p:grpSpPr>
                <p:sp>
                  <p:nvSpPr>
                    <p:cNvPr id="16" name="Gleichschenkliges Dreieck 15">
                      <a:extLst>
                        <a:ext uri="{FF2B5EF4-FFF2-40B4-BE49-F238E27FC236}">
                          <a16:creationId xmlns:a16="http://schemas.microsoft.com/office/drawing/2014/main" id="{2E1D5AA6-2AF0-D2CA-AEA1-EE24A87123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7825" y="3008684"/>
                      <a:ext cx="1190625" cy="1304925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17" name="Gleichschenkliges Dreieck 16">
                      <a:extLst>
                        <a:ext uri="{FF2B5EF4-FFF2-40B4-BE49-F238E27FC236}">
                          <a16:creationId xmlns:a16="http://schemas.microsoft.com/office/drawing/2014/main" id="{4FE39145-1063-4EDE-DD90-48BA3D493B1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647825" y="4313608"/>
                      <a:ext cx="1190624" cy="538309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18" name="Gerader Verbinder 17">
                      <a:extLst>
                        <a:ext uri="{FF2B5EF4-FFF2-40B4-BE49-F238E27FC236}">
                          <a16:creationId xmlns:a16="http://schemas.microsoft.com/office/drawing/2014/main" id="{F41D8160-2046-F806-D076-6A87D7ADD3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76465" y="3008684"/>
                      <a:ext cx="0" cy="1768589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" name="Gerader Verbinder 13">
                    <a:extLst>
                      <a:ext uri="{FF2B5EF4-FFF2-40B4-BE49-F238E27FC236}">
                        <a16:creationId xmlns:a16="http://schemas.microsoft.com/office/drawing/2014/main" id="{AC2C9587-0FE9-5BF1-180B-3F782491686A}"/>
                      </a:ext>
                    </a:extLst>
                  </p:cNvPr>
                  <p:cNvCxnSpPr/>
                  <p:nvPr/>
                </p:nvCxnSpPr>
                <p:spPr>
                  <a:xfrm>
                    <a:off x="1310512" y="477384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Gerader Verbinder 14">
                    <a:extLst>
                      <a:ext uri="{FF2B5EF4-FFF2-40B4-BE49-F238E27FC236}">
                        <a16:creationId xmlns:a16="http://schemas.microsoft.com/office/drawing/2014/main" id="{4A82B896-8809-E942-57AE-887187303242}"/>
                      </a:ext>
                    </a:extLst>
                  </p:cNvPr>
                  <p:cNvCxnSpPr/>
                  <p:nvPr/>
                </p:nvCxnSpPr>
                <p:spPr>
                  <a:xfrm>
                    <a:off x="3075091" y="477785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70972547-11AF-E3EF-C582-56477EDB4AC2}"/>
                    </a:ext>
                  </a:extLst>
                </p:cNvPr>
                <p:cNvCxnSpPr>
                  <a:cxnSpLocks/>
                  <a:stCxn id="17" idx="0"/>
                </p:cNvCxnSpPr>
                <p:nvPr/>
              </p:nvCxnSpPr>
              <p:spPr>
                <a:xfrm flipV="1">
                  <a:off x="1240403" y="3838575"/>
                  <a:ext cx="3066062" cy="358534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D59D73A8-00F4-3959-D716-21399FFD9043}"/>
                </a:ext>
              </a:extLst>
            </p:cNvPr>
            <p:cNvSpPr txBox="1">
              <a:spLocks/>
            </p:cNvSpPr>
            <p:nvPr/>
          </p:nvSpPr>
          <p:spPr>
            <a:xfrm rot="21235340">
              <a:off x="9536327" y="3061278"/>
              <a:ext cx="3352994" cy="56199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Bone orientation</a:t>
              </a:r>
            </a:p>
          </p:txBody>
        </p:sp>
      </p:grp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CBDD30F-DB68-1922-4B99-2DD1A68CAAB8}"/>
              </a:ext>
            </a:extLst>
          </p:cNvPr>
          <p:cNvCxnSpPr>
            <a:cxnSpLocks/>
          </p:cNvCxnSpPr>
          <p:nvPr/>
        </p:nvCxnSpPr>
        <p:spPr>
          <a:xfrm>
            <a:off x="5363549" y="2885355"/>
            <a:ext cx="0" cy="3019244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20889A5-B8D4-9F78-3C96-D37FDB9336AB}"/>
              </a:ext>
            </a:extLst>
          </p:cNvPr>
          <p:cNvSpPr txBox="1">
            <a:spLocks/>
          </p:cNvSpPr>
          <p:nvPr/>
        </p:nvSpPr>
        <p:spPr>
          <a:xfrm>
            <a:off x="1086824" y="5342606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Head orientation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3D2D3-C27D-E575-5461-0ED8FBCE5FA2}"/>
              </a:ext>
            </a:extLst>
          </p:cNvPr>
          <p:cNvSpPr txBox="1">
            <a:spLocks/>
          </p:cNvSpPr>
          <p:nvPr/>
        </p:nvSpPr>
        <p:spPr>
          <a:xfrm>
            <a:off x="5442471" y="5318877"/>
            <a:ext cx="2652614" cy="585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Tail orientation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53AD1FD-E069-3022-2127-36BB16D2164F}"/>
              </a:ext>
            </a:extLst>
          </p:cNvPr>
          <p:cNvCxnSpPr/>
          <p:nvPr/>
        </p:nvCxnSpPr>
        <p:spPr>
          <a:xfrm>
            <a:off x="1371000" y="4329000"/>
            <a:ext cx="19008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C058BF3-CFF1-9F32-736E-734B21039393}"/>
              </a:ext>
            </a:extLst>
          </p:cNvPr>
          <p:cNvCxnSpPr/>
          <p:nvPr/>
        </p:nvCxnSpPr>
        <p:spPr>
          <a:xfrm flipH="1">
            <a:off x="1561089" y="4329000"/>
            <a:ext cx="39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92F6333-BC52-8F74-BAAB-044731A6DBC7}"/>
              </a:ext>
            </a:extLst>
          </p:cNvPr>
          <p:cNvCxnSpPr/>
          <p:nvPr/>
        </p:nvCxnSpPr>
        <p:spPr>
          <a:xfrm flipH="1">
            <a:off x="1561089" y="4329000"/>
            <a:ext cx="84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777830C-6329-FC02-7A0E-8E9C2C5495F0}"/>
              </a:ext>
            </a:extLst>
          </p:cNvPr>
          <p:cNvCxnSpPr/>
          <p:nvPr/>
        </p:nvCxnSpPr>
        <p:spPr>
          <a:xfrm flipH="1">
            <a:off x="1561089" y="4329000"/>
            <a:ext cx="142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EA18E7F-F39B-B404-6046-4B4F09A4E7FE}"/>
              </a:ext>
            </a:extLst>
          </p:cNvPr>
          <p:cNvCxnSpPr/>
          <p:nvPr/>
        </p:nvCxnSpPr>
        <p:spPr>
          <a:xfrm flipH="1">
            <a:off x="1561089" y="4329000"/>
            <a:ext cx="196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2FC3443-4270-BB5A-DD58-D9E73CD656C3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4775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59180F1-EDBD-47B6-235C-F66DFF84ACDE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87872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1963B87-0008-957C-6A5D-E6257FDADCF2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345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BA7C4FC-91C3-8113-B852-73E46E56EDC4}"/>
              </a:ext>
            </a:extLst>
          </p:cNvPr>
          <p:cNvCxnSpPr>
            <a:cxnSpLocks/>
          </p:cNvCxnSpPr>
          <p:nvPr/>
        </p:nvCxnSpPr>
        <p:spPr>
          <a:xfrm>
            <a:off x="5495037" y="4260457"/>
            <a:ext cx="402418" cy="9925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5943D28-B713-2A56-9C0F-0AE88F3091C9}"/>
              </a:ext>
            </a:extLst>
          </p:cNvPr>
          <p:cNvCxnSpPr>
            <a:cxnSpLocks/>
          </p:cNvCxnSpPr>
          <p:nvPr/>
        </p:nvCxnSpPr>
        <p:spPr>
          <a:xfrm flipH="1">
            <a:off x="5891080" y="4243329"/>
            <a:ext cx="15006" cy="9856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40F000F-BD4D-47D8-EB4B-E72A8C281C8D}"/>
              </a:ext>
            </a:extLst>
          </p:cNvPr>
          <p:cNvCxnSpPr>
            <a:cxnSpLocks/>
          </p:cNvCxnSpPr>
          <p:nvPr/>
        </p:nvCxnSpPr>
        <p:spPr>
          <a:xfrm flipH="1">
            <a:off x="5891079" y="4243329"/>
            <a:ext cx="542537" cy="10096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2301427B-0723-37DA-4057-89DB9022E28B}"/>
              </a:ext>
            </a:extLst>
          </p:cNvPr>
          <p:cNvSpPr txBox="1"/>
          <p:nvPr/>
        </p:nvSpPr>
        <p:spPr>
          <a:xfrm>
            <a:off x="5151000" y="5887393"/>
            <a:ext cx="6184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326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bg1"/>
                </a:solidFill>
              </a:rPr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>
                <a:solidFill>
                  <a:schemeClr val="bg1"/>
                </a:solidFill>
              </a:r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17" t="38289" r="31281" b="47667"/>
          <a:stretch/>
        </p:blipFill>
        <p:spPr>
          <a:xfrm>
            <a:off x="1108713" y="3114000"/>
            <a:ext cx="6337287" cy="211500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E34F656-FBA4-6F14-FCBD-5AE2B6DF7F8B}"/>
              </a:ext>
            </a:extLst>
          </p:cNvPr>
          <p:cNvCxnSpPr>
            <a:cxnSpLocks/>
          </p:cNvCxnSpPr>
          <p:nvPr/>
        </p:nvCxnSpPr>
        <p:spPr>
          <a:xfrm flipV="1">
            <a:off x="1108714" y="4087067"/>
            <a:ext cx="6202286" cy="13228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E4F7358-41DE-CA8D-7637-15E61FBF9FC1}"/>
              </a:ext>
            </a:extLst>
          </p:cNvPr>
          <p:cNvSpPr txBox="1"/>
          <p:nvPr/>
        </p:nvSpPr>
        <p:spPr>
          <a:xfrm>
            <a:off x="1561089" y="3613998"/>
            <a:ext cx="3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de-DE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endParaRPr lang="de-DE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9F3C457-95F4-4B0C-2FC6-1E2CF6BEB8AF}"/>
              </a:ext>
            </a:extLst>
          </p:cNvPr>
          <p:cNvGrpSpPr/>
          <p:nvPr/>
        </p:nvGrpSpPr>
        <p:grpSpPr>
          <a:xfrm>
            <a:off x="7131000" y="815166"/>
            <a:ext cx="4906353" cy="2190310"/>
            <a:chOff x="7982968" y="3061278"/>
            <a:chExt cx="4906353" cy="219031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92DEE5B-5FAF-71F8-0666-2C6BB7D9E44F}"/>
                </a:ext>
              </a:extLst>
            </p:cNvPr>
            <p:cNvGrpSpPr/>
            <p:nvPr/>
          </p:nvGrpSpPr>
          <p:grpSpPr>
            <a:xfrm>
              <a:off x="7982968" y="3344723"/>
              <a:ext cx="3397812" cy="1906865"/>
              <a:chOff x="7982968" y="3344723"/>
              <a:chExt cx="3397812" cy="1906865"/>
            </a:xfrm>
          </p:grpSpPr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35E9A99-F2E5-19F3-EB85-D5834E1A67D4}"/>
                  </a:ext>
                </a:extLst>
              </p:cNvPr>
              <p:cNvSpPr txBox="1">
                <a:spLocks/>
              </p:cNvSpPr>
              <p:nvPr/>
            </p:nvSpPr>
            <p:spPr>
              <a:xfrm rot="21235340">
                <a:off x="8027786" y="4689595"/>
                <a:ext cx="3352994" cy="5619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A9E0"/>
                  </a:buClr>
                  <a:buSzTx/>
                  <a:buFont typeface="Arial" panose="020B0604020202020204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None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4EBCE0"/>
                  </a:buClr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Bone length</a:t>
                </a:r>
              </a:p>
            </p:txBody>
          </p: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DB7BD35D-37F6-C21C-A9B9-089B3E11E6D3}"/>
                  </a:ext>
                </a:extLst>
              </p:cNvPr>
              <p:cNvGrpSpPr/>
              <p:nvPr/>
            </p:nvGrpSpPr>
            <p:grpSpPr>
              <a:xfrm>
                <a:off x="7982968" y="3344723"/>
                <a:ext cx="3066062" cy="1332649"/>
                <a:chOff x="1240403" y="3498050"/>
                <a:chExt cx="3066062" cy="1332649"/>
              </a:xfrm>
            </p:grpSpPr>
            <p:grpSp>
              <p:nvGrpSpPr>
                <p:cNvPr id="10" name="Gruppieren 9">
                  <a:extLst>
                    <a:ext uri="{FF2B5EF4-FFF2-40B4-BE49-F238E27FC236}">
                      <a16:creationId xmlns:a16="http://schemas.microsoft.com/office/drawing/2014/main" id="{54229883-2254-1DC0-2BC1-4C1B49E4B58D}"/>
                    </a:ext>
                  </a:extLst>
                </p:cNvPr>
                <p:cNvGrpSpPr/>
                <p:nvPr/>
              </p:nvGrpSpPr>
              <p:grpSpPr>
                <a:xfrm rot="21213870">
                  <a:off x="1242554" y="3498050"/>
                  <a:ext cx="1843233" cy="1332649"/>
                  <a:chOff x="1235868" y="3583223"/>
                  <a:chExt cx="1843233" cy="1332649"/>
                </a:xfrm>
              </p:grpSpPr>
              <p:grpSp>
                <p:nvGrpSpPr>
                  <p:cNvPr id="13" name="Gruppieren 12">
                    <a:extLst>
                      <a:ext uri="{FF2B5EF4-FFF2-40B4-BE49-F238E27FC236}">
                        <a16:creationId xmlns:a16="http://schemas.microsoft.com/office/drawing/2014/main" id="{6728CCB4-4B72-E3FE-2DC7-BCFCFC3A491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493165" y="3325926"/>
                    <a:ext cx="1328640" cy="1843233"/>
                    <a:chOff x="1647825" y="3008684"/>
                    <a:chExt cx="1328640" cy="1843233"/>
                  </a:xfrm>
                </p:grpSpPr>
                <p:sp>
                  <p:nvSpPr>
                    <p:cNvPr id="16" name="Gleichschenkliges Dreieck 15">
                      <a:extLst>
                        <a:ext uri="{FF2B5EF4-FFF2-40B4-BE49-F238E27FC236}">
                          <a16:creationId xmlns:a16="http://schemas.microsoft.com/office/drawing/2014/main" id="{2E1D5AA6-2AF0-D2CA-AEA1-EE24A87123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7825" y="3008684"/>
                      <a:ext cx="1190625" cy="1304925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17" name="Gleichschenkliges Dreieck 16">
                      <a:extLst>
                        <a:ext uri="{FF2B5EF4-FFF2-40B4-BE49-F238E27FC236}">
                          <a16:creationId xmlns:a16="http://schemas.microsoft.com/office/drawing/2014/main" id="{4FE39145-1063-4EDE-DD90-48BA3D493B1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647825" y="4313608"/>
                      <a:ext cx="1190624" cy="538309"/>
                    </a:xfrm>
                    <a:prstGeom prst="triangle">
                      <a:avLst/>
                    </a:prstGeom>
                    <a:solidFill>
                      <a:srgbClr val="59C7EB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18" name="Gerader Verbinder 17">
                      <a:extLst>
                        <a:ext uri="{FF2B5EF4-FFF2-40B4-BE49-F238E27FC236}">
                          <a16:creationId xmlns:a16="http://schemas.microsoft.com/office/drawing/2014/main" id="{F41D8160-2046-F806-D076-6A87D7ADD3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76465" y="3008684"/>
                      <a:ext cx="0" cy="1768589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" name="Gerader Verbinder 13">
                    <a:extLst>
                      <a:ext uri="{FF2B5EF4-FFF2-40B4-BE49-F238E27FC236}">
                        <a16:creationId xmlns:a16="http://schemas.microsoft.com/office/drawing/2014/main" id="{AC2C9587-0FE9-5BF1-180B-3F782491686A}"/>
                      </a:ext>
                    </a:extLst>
                  </p:cNvPr>
                  <p:cNvCxnSpPr/>
                  <p:nvPr/>
                </p:nvCxnSpPr>
                <p:spPr>
                  <a:xfrm>
                    <a:off x="1310512" y="477384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Gerader Verbinder 14">
                    <a:extLst>
                      <a:ext uri="{FF2B5EF4-FFF2-40B4-BE49-F238E27FC236}">
                        <a16:creationId xmlns:a16="http://schemas.microsoft.com/office/drawing/2014/main" id="{4A82B896-8809-E942-57AE-887187303242}"/>
                      </a:ext>
                    </a:extLst>
                  </p:cNvPr>
                  <p:cNvCxnSpPr/>
                  <p:nvPr/>
                </p:nvCxnSpPr>
                <p:spPr>
                  <a:xfrm>
                    <a:off x="3075091" y="4777857"/>
                    <a:ext cx="0" cy="1380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Gerade Verbindung mit Pfeil 11">
                  <a:extLst>
                    <a:ext uri="{FF2B5EF4-FFF2-40B4-BE49-F238E27FC236}">
                      <a16:creationId xmlns:a16="http://schemas.microsoft.com/office/drawing/2014/main" id="{70972547-11AF-E3EF-C582-56477EDB4AC2}"/>
                    </a:ext>
                  </a:extLst>
                </p:cNvPr>
                <p:cNvCxnSpPr>
                  <a:cxnSpLocks/>
                  <a:stCxn id="17" idx="0"/>
                </p:cNvCxnSpPr>
                <p:nvPr/>
              </p:nvCxnSpPr>
              <p:spPr>
                <a:xfrm flipV="1">
                  <a:off x="1240403" y="3838575"/>
                  <a:ext cx="3066062" cy="358534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D59D73A8-00F4-3959-D716-21399FFD9043}"/>
                </a:ext>
              </a:extLst>
            </p:cNvPr>
            <p:cNvSpPr txBox="1">
              <a:spLocks/>
            </p:cNvSpPr>
            <p:nvPr/>
          </p:nvSpPr>
          <p:spPr>
            <a:xfrm rot="21235340">
              <a:off x="9536327" y="3061278"/>
              <a:ext cx="3352994" cy="56199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Bone orientation</a:t>
              </a:r>
            </a:p>
          </p:txBody>
        </p:sp>
      </p:grp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CBDD30F-DB68-1922-4B99-2DD1A68CAAB8}"/>
              </a:ext>
            </a:extLst>
          </p:cNvPr>
          <p:cNvCxnSpPr>
            <a:cxnSpLocks/>
          </p:cNvCxnSpPr>
          <p:nvPr/>
        </p:nvCxnSpPr>
        <p:spPr>
          <a:xfrm>
            <a:off x="5363549" y="2885355"/>
            <a:ext cx="0" cy="3019244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20889A5-B8D4-9F78-3C96-D37FDB9336AB}"/>
              </a:ext>
            </a:extLst>
          </p:cNvPr>
          <p:cNvSpPr txBox="1">
            <a:spLocks/>
          </p:cNvSpPr>
          <p:nvPr/>
        </p:nvSpPr>
        <p:spPr>
          <a:xfrm>
            <a:off x="1086824" y="5342606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Head orientation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3D2D3-C27D-E575-5461-0ED8FBCE5FA2}"/>
              </a:ext>
            </a:extLst>
          </p:cNvPr>
          <p:cNvSpPr txBox="1">
            <a:spLocks/>
          </p:cNvSpPr>
          <p:nvPr/>
        </p:nvSpPr>
        <p:spPr>
          <a:xfrm>
            <a:off x="5442471" y="5318877"/>
            <a:ext cx="2652614" cy="585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Tail orientation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53AD1FD-E069-3022-2127-36BB16D2164F}"/>
              </a:ext>
            </a:extLst>
          </p:cNvPr>
          <p:cNvCxnSpPr/>
          <p:nvPr/>
        </p:nvCxnSpPr>
        <p:spPr>
          <a:xfrm>
            <a:off x="1371000" y="4329000"/>
            <a:ext cx="19008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C058BF3-CFF1-9F32-736E-734B21039393}"/>
              </a:ext>
            </a:extLst>
          </p:cNvPr>
          <p:cNvCxnSpPr/>
          <p:nvPr/>
        </p:nvCxnSpPr>
        <p:spPr>
          <a:xfrm flipH="1">
            <a:off x="1561089" y="4329000"/>
            <a:ext cx="39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92F6333-BC52-8F74-BAAB-044731A6DBC7}"/>
              </a:ext>
            </a:extLst>
          </p:cNvPr>
          <p:cNvCxnSpPr/>
          <p:nvPr/>
        </p:nvCxnSpPr>
        <p:spPr>
          <a:xfrm flipH="1">
            <a:off x="1561089" y="4329000"/>
            <a:ext cx="84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777830C-6329-FC02-7A0E-8E9C2C5495F0}"/>
              </a:ext>
            </a:extLst>
          </p:cNvPr>
          <p:cNvCxnSpPr/>
          <p:nvPr/>
        </p:nvCxnSpPr>
        <p:spPr>
          <a:xfrm flipH="1">
            <a:off x="1561089" y="4329000"/>
            <a:ext cx="142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EA18E7F-F39B-B404-6046-4B4F09A4E7FE}"/>
              </a:ext>
            </a:extLst>
          </p:cNvPr>
          <p:cNvCxnSpPr/>
          <p:nvPr/>
        </p:nvCxnSpPr>
        <p:spPr>
          <a:xfrm flipH="1">
            <a:off x="1561089" y="4329000"/>
            <a:ext cx="1969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2FC3443-4270-BB5A-DD58-D9E73CD656C3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4775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59180F1-EDBD-47B6-235C-F66DFF84ACDE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2878729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1963B87-0008-957C-6A5D-E6257FDADCF2}"/>
              </a:ext>
            </a:extLst>
          </p:cNvPr>
          <p:cNvCxnSpPr>
            <a:cxnSpLocks/>
          </p:cNvCxnSpPr>
          <p:nvPr/>
        </p:nvCxnSpPr>
        <p:spPr>
          <a:xfrm flipH="1">
            <a:off x="1561089" y="4329000"/>
            <a:ext cx="3454911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BA7C4FC-91C3-8113-B852-73E46E56EDC4}"/>
              </a:ext>
            </a:extLst>
          </p:cNvPr>
          <p:cNvCxnSpPr>
            <a:cxnSpLocks/>
          </p:cNvCxnSpPr>
          <p:nvPr/>
        </p:nvCxnSpPr>
        <p:spPr>
          <a:xfrm>
            <a:off x="5495037" y="4260457"/>
            <a:ext cx="402418" cy="9925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5943D28-B713-2A56-9C0F-0AE88F3091C9}"/>
              </a:ext>
            </a:extLst>
          </p:cNvPr>
          <p:cNvCxnSpPr>
            <a:cxnSpLocks/>
          </p:cNvCxnSpPr>
          <p:nvPr/>
        </p:nvCxnSpPr>
        <p:spPr>
          <a:xfrm flipH="1">
            <a:off x="5891080" y="4243329"/>
            <a:ext cx="15006" cy="9856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40F000F-BD4D-47D8-EB4B-E72A8C281C8D}"/>
              </a:ext>
            </a:extLst>
          </p:cNvPr>
          <p:cNvCxnSpPr>
            <a:cxnSpLocks/>
          </p:cNvCxnSpPr>
          <p:nvPr/>
        </p:nvCxnSpPr>
        <p:spPr>
          <a:xfrm flipH="1">
            <a:off x="5891079" y="4243329"/>
            <a:ext cx="542537" cy="10096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2301427B-0723-37DA-4057-89DB9022E28B}"/>
              </a:ext>
            </a:extLst>
          </p:cNvPr>
          <p:cNvSpPr txBox="1"/>
          <p:nvPr/>
        </p:nvSpPr>
        <p:spPr>
          <a:xfrm>
            <a:off x="5151000" y="5887393"/>
            <a:ext cx="6184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F4AC8326-6C08-66C6-5CBA-20C7CE1740FB}"/>
              </a:ext>
            </a:extLst>
          </p:cNvPr>
          <p:cNvGrpSpPr/>
          <p:nvPr/>
        </p:nvGrpSpPr>
        <p:grpSpPr>
          <a:xfrm>
            <a:off x="1371000" y="2418894"/>
            <a:ext cx="3512539" cy="1083829"/>
            <a:chOff x="1371000" y="2418894"/>
            <a:chExt cx="3512539" cy="1083829"/>
          </a:xfrm>
        </p:grpSpPr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98141AF4-DBCA-238F-144C-95B156BF0236}"/>
                </a:ext>
              </a:extLst>
            </p:cNvPr>
            <p:cNvSpPr txBox="1">
              <a:spLocks/>
            </p:cNvSpPr>
            <p:nvPr/>
          </p:nvSpPr>
          <p:spPr>
            <a:xfrm>
              <a:off x="2276044" y="2547804"/>
              <a:ext cx="2607495" cy="56199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Global location</a:t>
              </a:r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3C4122AC-A459-9B93-A9CA-21B145293A3D}"/>
                </a:ext>
              </a:extLst>
            </p:cNvPr>
            <p:cNvGrpSpPr/>
            <p:nvPr/>
          </p:nvGrpSpPr>
          <p:grpSpPr>
            <a:xfrm>
              <a:off x="1371000" y="2418894"/>
              <a:ext cx="1101367" cy="1083829"/>
              <a:chOff x="-1486256" y="1096162"/>
              <a:chExt cx="1444856" cy="1421848"/>
            </a:xfrm>
          </p:grpSpPr>
          <p:cxnSp>
            <p:nvCxnSpPr>
              <p:cNvPr id="31" name="Gerade Verbindung mit Pfeil 30">
                <a:extLst>
                  <a:ext uri="{FF2B5EF4-FFF2-40B4-BE49-F238E27FC236}">
                    <a16:creationId xmlns:a16="http://schemas.microsoft.com/office/drawing/2014/main" id="{E5DF8F45-C9FF-726D-8E08-A08D10E5939E}"/>
                  </a:ext>
                </a:extLst>
              </p:cNvPr>
              <p:cNvCxnSpPr/>
              <p:nvPr/>
            </p:nvCxnSpPr>
            <p:spPr>
              <a:xfrm flipV="1">
                <a:off x="-879000" y="1096162"/>
                <a:ext cx="0" cy="937838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2FA4EC43-BEED-902E-2055-3B92B799C4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486256" y="2012761"/>
                <a:ext cx="607256" cy="505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4A3B1539-83FF-2266-5ACE-86B5AB4351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79000" y="2034000"/>
                <a:ext cx="837600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85832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27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5E32FAF-AFCC-551F-8ABD-E640AF25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785" y="1452793"/>
            <a:ext cx="7298430" cy="4754702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23CEB20-C73C-3AC2-69A2-EF8B6E58DE18}"/>
              </a:ext>
            </a:extLst>
          </p:cNvPr>
          <p:cNvSpPr/>
          <p:nvPr/>
        </p:nvSpPr>
        <p:spPr>
          <a:xfrm>
            <a:off x="2057678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C2064A8-2814-B0F4-9A33-159457C68822}"/>
              </a:ext>
            </a:extLst>
          </p:cNvPr>
          <p:cNvSpPr/>
          <p:nvPr/>
        </p:nvSpPr>
        <p:spPr>
          <a:xfrm>
            <a:off x="4982461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534F76E-0C2A-6E05-36AA-4E81525A8C67}"/>
              </a:ext>
            </a:extLst>
          </p:cNvPr>
          <p:cNvSpPr/>
          <p:nvPr/>
        </p:nvSpPr>
        <p:spPr>
          <a:xfrm>
            <a:off x="7466257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70D25D-5D5A-FA76-9C84-FB12846BC346}"/>
              </a:ext>
            </a:extLst>
          </p:cNvPr>
          <p:cNvSpPr txBox="1"/>
          <p:nvPr/>
        </p:nvSpPr>
        <p:spPr>
          <a:xfrm>
            <a:off x="7466257" y="5938391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301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21545" cy="4351338"/>
          </a:xfrm>
        </p:spPr>
        <p:txBody>
          <a:bodyPr>
            <a:noAutofit/>
          </a:bodyPr>
          <a:lstStyle/>
          <a:p>
            <a:r>
              <a:rPr lang="en-US" sz="3600" u="sng" dirty="0"/>
              <a:t>Optimization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r>
              <a:rPr lang="en-US" sz="3200" b="1" dirty="0"/>
              <a:t>Method</a:t>
            </a:r>
            <a:r>
              <a:rPr lang="en-US" sz="3200" dirty="0"/>
              <a:t>: 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2800" dirty="0"/>
              <a:t>Adam optimizer (gradient descent)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r>
              <a:rPr lang="en-US" sz="3200" b="1" dirty="0"/>
              <a:t>Error function</a:t>
            </a:r>
            <a:r>
              <a:rPr lang="en-US" sz="3200" dirty="0"/>
              <a:t>: 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2800" dirty="0"/>
              <a:t>Different for each step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r>
              <a:rPr lang="en-US" sz="3200" b="1" dirty="0"/>
              <a:t>Optimization parameters</a:t>
            </a:r>
            <a:r>
              <a:rPr lang="en-US" sz="3200" dirty="0"/>
              <a:t>: </a:t>
            </a:r>
          </a:p>
          <a:p>
            <a:pPr marL="1028700" lvl="1" indent="-571500">
              <a:buFont typeface="Symbol" panose="05050102010706020507" pitchFamily="18" charset="2"/>
              <a:buChar char="-"/>
            </a:pPr>
            <a:r>
              <a:rPr lang="en-US" sz="2800" dirty="0"/>
              <a:t>Location + different subsets of the orientation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pic>
        <p:nvPicPr>
          <p:cNvPr id="6" name="Grafik 5" descr="Ein Bild, das Kreis, Raum, Universum, Vortex enthält.&#10;&#10;Automatisch generierte Beschreibung">
            <a:extLst>
              <a:ext uri="{FF2B5EF4-FFF2-40B4-BE49-F238E27FC236}">
                <a16:creationId xmlns:a16="http://schemas.microsoft.com/office/drawing/2014/main" id="{2665C454-C971-33D8-CE5A-F327A65A83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000" y="598321"/>
            <a:ext cx="2652328" cy="2844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FAA8798-57AE-C111-5DAC-65DD1DC1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800" y="3804978"/>
            <a:ext cx="3915000" cy="204371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367867F-3A24-B1E3-2CC4-48DE31EFFD64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EC93C1E-2FAE-B3D8-4048-6FF9F4CDFA36}"/>
              </a:ext>
            </a:extLst>
          </p:cNvPr>
          <p:cNvSpPr txBox="1"/>
          <p:nvPr/>
        </p:nvSpPr>
        <p:spPr>
          <a:xfrm>
            <a:off x="6602144" y="3212553"/>
            <a:ext cx="5064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Image: https://en.wikipedia.org/wiki/File:Gradient_descent.svg </a:t>
            </a:r>
          </a:p>
          <a:p>
            <a:pPr algn="r"/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Olegalexandrov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5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57" y="1825625"/>
            <a:ext cx="7641299" cy="4351338"/>
          </a:xfrm>
        </p:spPr>
        <p:txBody>
          <a:bodyPr>
            <a:normAutofit/>
          </a:bodyPr>
          <a:lstStyle/>
          <a:p>
            <a:r>
              <a:rPr lang="en-US" sz="3600" b="1" dirty="0"/>
              <a:t>Parameters: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Error: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3A629E-A0CC-1371-55A0-95E0628F16D9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AECE9A-69B7-AFE9-24C8-94A12C386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70" r="65811"/>
          <a:stretch/>
        </p:blipFill>
        <p:spPr>
          <a:xfrm>
            <a:off x="765743" y="1825625"/>
            <a:ext cx="2495257" cy="4128495"/>
          </a:xfrm>
          <a:prstGeom prst="rect">
            <a:avLst/>
          </a:prstGeom>
        </p:spPr>
      </p:pic>
      <p:pic>
        <p:nvPicPr>
          <p:cNvPr id="2" name="Grafik 1" descr="Ein Bild, das Design enthält.&#10;&#10;Automatisch generierte Beschreibung mit geringer Zuverlässigkeit">
            <a:extLst>
              <a:ext uri="{FF2B5EF4-FFF2-40B4-BE49-F238E27FC236}">
                <a16:creationId xmlns:a16="http://schemas.microsoft.com/office/drawing/2014/main" id="{BC64038E-6EDB-EAAE-DC10-90A219100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178" y="2231538"/>
            <a:ext cx="4854856" cy="152645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934BC7E-4BCC-862C-ADE1-50A09C508C77}"/>
              </a:ext>
            </a:extLst>
          </p:cNvPr>
          <p:cNvCxnSpPr>
            <a:cxnSpLocks/>
          </p:cNvCxnSpPr>
          <p:nvPr/>
        </p:nvCxnSpPr>
        <p:spPr>
          <a:xfrm flipV="1">
            <a:off x="6523927" y="2931856"/>
            <a:ext cx="4847915" cy="1033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48623435-2E27-4312-2AD9-AE3B0A628798}"/>
              </a:ext>
            </a:extLst>
          </p:cNvPr>
          <p:cNvSpPr txBox="1"/>
          <p:nvPr/>
        </p:nvSpPr>
        <p:spPr>
          <a:xfrm>
            <a:off x="6925979" y="2499571"/>
            <a:ext cx="4043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de-DE" sz="2400" dirty="0">
                <a:solidFill>
                  <a:srgbClr val="59C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B684335-384D-B0F5-EEB4-2547027D754A}"/>
              </a:ext>
            </a:extLst>
          </p:cNvPr>
          <p:cNvGrpSpPr/>
          <p:nvPr/>
        </p:nvGrpSpPr>
        <p:grpSpPr>
          <a:xfrm>
            <a:off x="6657234" y="1405309"/>
            <a:ext cx="3502442" cy="847157"/>
            <a:chOff x="2270824" y="2374184"/>
            <a:chExt cx="4480926" cy="1083829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91465A20-9B23-1477-BC93-0C4D3B127B67}"/>
                </a:ext>
              </a:extLst>
            </p:cNvPr>
            <p:cNvSpPr txBox="1">
              <a:spLocks/>
            </p:cNvSpPr>
            <p:nvPr/>
          </p:nvSpPr>
          <p:spPr>
            <a:xfrm>
              <a:off x="3175868" y="2503093"/>
              <a:ext cx="3575882" cy="56199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Global location</a:t>
              </a:r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BE83ECA-4A98-4127-8CEE-1E0461D24283}"/>
                </a:ext>
              </a:extLst>
            </p:cNvPr>
            <p:cNvGrpSpPr/>
            <p:nvPr/>
          </p:nvGrpSpPr>
          <p:grpSpPr>
            <a:xfrm>
              <a:off x="2270824" y="2374184"/>
              <a:ext cx="1101365" cy="1083829"/>
              <a:chOff x="-305800" y="1037508"/>
              <a:chExt cx="1444854" cy="1421848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5821D8D0-3AC6-3F7A-1F33-969377B83F0D}"/>
                  </a:ext>
                </a:extLst>
              </p:cNvPr>
              <p:cNvCxnSpPr/>
              <p:nvPr/>
            </p:nvCxnSpPr>
            <p:spPr>
              <a:xfrm flipV="1">
                <a:off x="301455" y="1037508"/>
                <a:ext cx="0" cy="9378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C39D2B9B-A32B-50E8-5113-B2B8902651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305800" y="1954108"/>
                <a:ext cx="607257" cy="5052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5378BB24-616E-765A-B1D3-AE6E74D2B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454" y="1975346"/>
                <a:ext cx="837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B047399B-D8AD-FE54-C7D6-52E154D233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7" t="44667" r="36638" b="45350"/>
          <a:stretch/>
        </p:blipFill>
        <p:spPr>
          <a:xfrm flipH="1">
            <a:off x="8702506" y="4684929"/>
            <a:ext cx="2078625" cy="752768"/>
          </a:xfrm>
          <a:prstGeom prst="rect">
            <a:avLst/>
          </a:prstGeo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30F53E0-AD9B-858A-ECEE-D41AEB589E02}"/>
              </a:ext>
            </a:extLst>
          </p:cNvPr>
          <p:cNvCxnSpPr>
            <a:cxnSpLocks/>
            <a:stCxn id="26" idx="6"/>
            <a:endCxn id="27" idx="6"/>
          </p:cNvCxnSpPr>
          <p:nvPr/>
        </p:nvCxnSpPr>
        <p:spPr>
          <a:xfrm flipV="1">
            <a:off x="8938920" y="4903362"/>
            <a:ext cx="351777" cy="5576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36E71E9-EF1C-579E-3AB5-38A899C7ACE7}"/>
              </a:ext>
            </a:extLst>
          </p:cNvPr>
          <p:cNvCxnSpPr>
            <a:cxnSpLocks/>
            <a:stCxn id="27" idx="6"/>
            <a:endCxn id="28" idx="6"/>
          </p:cNvCxnSpPr>
          <p:nvPr/>
        </p:nvCxnSpPr>
        <p:spPr>
          <a:xfrm flipV="1">
            <a:off x="9290697" y="4886921"/>
            <a:ext cx="351445" cy="1644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0010561-214D-9BA3-BF82-C6263532C3B5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9521773" y="4758529"/>
            <a:ext cx="747651" cy="12719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EA21B74A-E07E-3B0A-C9C7-27DB651D551C}"/>
              </a:ext>
            </a:extLst>
          </p:cNvPr>
          <p:cNvCxnSpPr>
            <a:cxnSpLocks/>
            <a:stCxn id="29" idx="5"/>
            <a:endCxn id="30" idx="5"/>
          </p:cNvCxnSpPr>
          <p:nvPr/>
        </p:nvCxnSpPr>
        <p:spPr>
          <a:xfrm>
            <a:off x="10466943" y="4849316"/>
            <a:ext cx="312972" cy="30709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379F6D0B-854D-21FC-B068-68A1F07A9D29}"/>
              </a:ext>
            </a:extLst>
          </p:cNvPr>
          <p:cNvSpPr/>
          <p:nvPr/>
        </p:nvSpPr>
        <p:spPr>
          <a:xfrm>
            <a:off x="8707512" y="4830734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4C6727-F296-C2AA-0936-3C156BC26E21}"/>
              </a:ext>
            </a:extLst>
          </p:cNvPr>
          <p:cNvSpPr/>
          <p:nvPr/>
        </p:nvSpPr>
        <p:spPr>
          <a:xfrm>
            <a:off x="9059289" y="4774969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24FEB68-4C29-4704-731C-BB86AE822678}"/>
              </a:ext>
            </a:extLst>
          </p:cNvPr>
          <p:cNvSpPr/>
          <p:nvPr/>
        </p:nvSpPr>
        <p:spPr>
          <a:xfrm>
            <a:off x="9410734" y="4758528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9A2A4A08-3FB1-5BA0-FC5B-FB22C82ABAFB}"/>
              </a:ext>
            </a:extLst>
          </p:cNvPr>
          <p:cNvSpPr/>
          <p:nvPr/>
        </p:nvSpPr>
        <p:spPr>
          <a:xfrm>
            <a:off x="10269424" y="4630136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BAF85642-2971-F2A9-4CBB-B8858787F8C1}"/>
              </a:ext>
            </a:extLst>
          </p:cNvPr>
          <p:cNvSpPr/>
          <p:nvPr/>
        </p:nvSpPr>
        <p:spPr>
          <a:xfrm>
            <a:off x="10582396" y="4937235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D3CD9DC-FB18-001F-A5AD-B588B0DA7EE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7" t="44667" r="36638" b="45350"/>
          <a:stretch/>
        </p:blipFill>
        <p:spPr>
          <a:xfrm flipH="1">
            <a:off x="5582066" y="4754148"/>
            <a:ext cx="2078625" cy="75276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F49B89E3-8C2D-174D-F823-DA4E732ED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392" r="90909">
                        <a14:foregroundMark x1="8392" y1="46667" x2="8392" y2="46667"/>
                        <a14:foregroundMark x1="90909" y1="58333" x2="90909" y2="58333"/>
                        <a14:foregroundMark x1="9441" y1="53333" x2="9441" y2="53333"/>
                        <a14:foregroundMark x1="11189" y1="43333" x2="11189" y2="43333"/>
                        <a14:foregroundMark x1="9091" y1="48333" x2="9091" y2="48333"/>
                        <a14:foregroundMark x1="9091" y1="43333" x2="10490" y2="55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5257" y="4796011"/>
            <a:ext cx="2247417" cy="471486"/>
          </a:xfrm>
          <a:prstGeom prst="rect">
            <a:avLst/>
          </a:prstGeom>
        </p:spPr>
      </p:pic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DBEDB496-0A29-44B1-226D-3D0ABF9B5FDF}"/>
              </a:ext>
            </a:extLst>
          </p:cNvPr>
          <p:cNvGrpSpPr/>
          <p:nvPr/>
        </p:nvGrpSpPr>
        <p:grpSpPr>
          <a:xfrm>
            <a:off x="8618109" y="4789849"/>
            <a:ext cx="2247417" cy="471486"/>
            <a:chOff x="8576038" y="5265107"/>
            <a:chExt cx="2247417" cy="471486"/>
          </a:xfrm>
        </p:grpSpPr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3E4F9C4C-45DF-AEEC-D617-784FB0AB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8392" r="90909">
                          <a14:foregroundMark x1="8392" y1="46667" x2="8392" y2="46667"/>
                          <a14:foregroundMark x1="90909" y1="58333" x2="90909" y2="58333"/>
                          <a14:foregroundMark x1="9441" y1="53333" x2="9441" y2="53333"/>
                          <a14:foregroundMark x1="11189" y1="43333" x2="11189" y2="43333"/>
                          <a14:foregroundMark x1="9091" y1="48333" x2="9091" y2="48333"/>
                          <a14:foregroundMark x1="9091" y1="43333" x2="10490" y2="55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76038" y="5265107"/>
              <a:ext cx="2247417" cy="471486"/>
            </a:xfrm>
            <a:prstGeom prst="rect">
              <a:avLst/>
            </a:prstGeom>
          </p:spPr>
        </p:pic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00582B2C-3472-ABA8-2F92-6C11613702EF}"/>
                </a:ext>
              </a:extLst>
            </p:cNvPr>
            <p:cNvGrpSpPr/>
            <p:nvPr/>
          </p:nvGrpSpPr>
          <p:grpSpPr>
            <a:xfrm>
              <a:off x="8689927" y="5353509"/>
              <a:ext cx="2106292" cy="371299"/>
              <a:chOff x="8689927" y="5353509"/>
              <a:chExt cx="2106292" cy="371299"/>
            </a:xfrm>
          </p:grpSpPr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FD6C0DD6-30D1-5A56-38AD-76262C73368D}"/>
                  </a:ext>
                </a:extLst>
              </p:cNvPr>
              <p:cNvCxnSpPr>
                <a:cxnSpLocks/>
                <a:stCxn id="52" idx="6"/>
                <a:endCxn id="53" idx="6"/>
              </p:cNvCxnSpPr>
              <p:nvPr/>
            </p:nvCxnSpPr>
            <p:spPr>
              <a:xfrm>
                <a:off x="8921335" y="5489915"/>
                <a:ext cx="395913" cy="21188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D24690DE-B205-2F0B-A163-14C645F50529}"/>
                  </a:ext>
                </a:extLst>
              </p:cNvPr>
              <p:cNvCxnSpPr>
                <a:cxnSpLocks/>
                <a:stCxn id="53" idx="6"/>
                <a:endCxn id="54" idx="6"/>
              </p:cNvCxnSpPr>
              <p:nvPr/>
            </p:nvCxnSpPr>
            <p:spPr>
              <a:xfrm flipV="1">
                <a:off x="9317248" y="5495267"/>
                <a:ext cx="330167" cy="1583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D0BBD306-A528-1072-24EE-93B4D95B45F7}"/>
                  </a:ext>
                </a:extLst>
              </p:cNvPr>
              <p:cNvCxnSpPr>
                <a:cxnSpLocks/>
                <a:stCxn id="54" idx="6"/>
                <a:endCxn id="55" idx="2"/>
              </p:cNvCxnSpPr>
              <p:nvPr/>
            </p:nvCxnSpPr>
            <p:spPr>
              <a:xfrm flipV="1">
                <a:off x="9647415" y="5481902"/>
                <a:ext cx="412779" cy="13365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A34C0D76-DDE7-8689-F32A-7B829637D710}"/>
                  </a:ext>
                </a:extLst>
              </p:cNvPr>
              <p:cNvCxnSpPr>
                <a:cxnSpLocks/>
                <a:stCxn id="55" idx="6"/>
                <a:endCxn id="56" idx="6"/>
              </p:cNvCxnSpPr>
              <p:nvPr/>
            </p:nvCxnSpPr>
            <p:spPr>
              <a:xfrm>
                <a:off x="10291602" y="5481902"/>
                <a:ext cx="504617" cy="11451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4D9558AF-E406-EF81-C194-69B28D30D014}"/>
                  </a:ext>
                </a:extLst>
              </p:cNvPr>
              <p:cNvSpPr/>
              <p:nvPr/>
            </p:nvSpPr>
            <p:spPr>
              <a:xfrm>
                <a:off x="8689927" y="5361522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614C086F-8766-6787-FEFB-CB7A62FBF398}"/>
                  </a:ext>
                </a:extLst>
              </p:cNvPr>
              <p:cNvSpPr/>
              <p:nvPr/>
            </p:nvSpPr>
            <p:spPr>
              <a:xfrm>
                <a:off x="9085840" y="5382710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C3AA184-DE43-89F2-D68F-A0199DD81C86}"/>
                  </a:ext>
                </a:extLst>
              </p:cNvPr>
              <p:cNvSpPr/>
              <p:nvPr/>
            </p:nvSpPr>
            <p:spPr>
              <a:xfrm>
                <a:off x="9416007" y="5366874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52B52A9-E890-45A4-248F-0C1EAC1B0371}"/>
                  </a:ext>
                </a:extLst>
              </p:cNvPr>
              <p:cNvSpPr/>
              <p:nvPr/>
            </p:nvSpPr>
            <p:spPr>
              <a:xfrm>
                <a:off x="10060194" y="5353509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96884B0D-4223-6A32-39A2-E1A9EA5773C5}"/>
                  </a:ext>
                </a:extLst>
              </p:cNvPr>
              <p:cNvSpPr/>
              <p:nvPr/>
            </p:nvSpPr>
            <p:spPr>
              <a:xfrm>
                <a:off x="10564811" y="5468023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3FCC8E6D-9B26-B246-D7C8-E36541423F29}"/>
              </a:ext>
            </a:extLst>
          </p:cNvPr>
          <p:cNvSpPr txBox="1">
            <a:spLocks/>
          </p:cNvSpPr>
          <p:nvPr/>
        </p:nvSpPr>
        <p:spPr>
          <a:xfrm>
            <a:off x="5515257" y="5437697"/>
            <a:ext cx="2795029" cy="4392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Silhouette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32CBAF62-77E8-B25D-4D40-13CE9F698963}"/>
              </a:ext>
            </a:extLst>
          </p:cNvPr>
          <p:cNvSpPr txBox="1">
            <a:spLocks/>
          </p:cNvSpPr>
          <p:nvPr/>
        </p:nvSpPr>
        <p:spPr>
          <a:xfrm>
            <a:off x="8610600" y="5450643"/>
            <a:ext cx="2698687" cy="4392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Keypoints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9462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8111" y="1825625"/>
            <a:ext cx="7641299" cy="4351338"/>
          </a:xfrm>
        </p:spPr>
        <p:txBody>
          <a:bodyPr>
            <a:normAutofit/>
          </a:bodyPr>
          <a:lstStyle/>
          <a:p>
            <a:r>
              <a:rPr lang="en-US" sz="3600" b="1" dirty="0"/>
              <a:t>Parameters: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Error: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3A629E-A0CC-1371-55A0-95E0628F16D9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AECE9A-69B7-AFE9-24C8-94A12C386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43" t="13501" r="33713" b="-331"/>
          <a:stretch/>
        </p:blipFill>
        <p:spPr>
          <a:xfrm>
            <a:off x="1174856" y="1825625"/>
            <a:ext cx="1776732" cy="4128495"/>
          </a:xfrm>
          <a:prstGeom prst="rect">
            <a:avLst/>
          </a:prstGeom>
        </p:spPr>
      </p:pic>
      <p:pic>
        <p:nvPicPr>
          <p:cNvPr id="2" name="Grafik 1" descr="Ein Bild, das Design enthält.&#10;&#10;Automatisch generierte Beschreibung mit geringer Zuverlässigkeit">
            <a:extLst>
              <a:ext uri="{FF2B5EF4-FFF2-40B4-BE49-F238E27FC236}">
                <a16:creationId xmlns:a16="http://schemas.microsoft.com/office/drawing/2014/main" id="{BC64038E-6EDB-EAAE-DC10-90A219100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178" y="2231538"/>
            <a:ext cx="4854856" cy="152645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B684335-384D-B0F5-EEB4-2547027D754A}"/>
              </a:ext>
            </a:extLst>
          </p:cNvPr>
          <p:cNvGrpSpPr/>
          <p:nvPr/>
        </p:nvGrpSpPr>
        <p:grpSpPr>
          <a:xfrm>
            <a:off x="6657234" y="1405309"/>
            <a:ext cx="3502442" cy="847157"/>
            <a:chOff x="2270824" y="2374184"/>
            <a:chExt cx="4480926" cy="1083829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91465A20-9B23-1477-BC93-0C4D3B127B67}"/>
                </a:ext>
              </a:extLst>
            </p:cNvPr>
            <p:cNvSpPr txBox="1">
              <a:spLocks/>
            </p:cNvSpPr>
            <p:nvPr/>
          </p:nvSpPr>
          <p:spPr>
            <a:xfrm>
              <a:off x="3175868" y="2503093"/>
              <a:ext cx="3575882" cy="56199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Global location</a:t>
              </a:r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BE83ECA-4A98-4127-8CEE-1E0461D24283}"/>
                </a:ext>
              </a:extLst>
            </p:cNvPr>
            <p:cNvGrpSpPr/>
            <p:nvPr/>
          </p:nvGrpSpPr>
          <p:grpSpPr>
            <a:xfrm>
              <a:off x="2270824" y="2374184"/>
              <a:ext cx="1101365" cy="1083829"/>
              <a:chOff x="-305800" y="1037508"/>
              <a:chExt cx="1444854" cy="1421848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5821D8D0-3AC6-3F7A-1F33-969377B83F0D}"/>
                  </a:ext>
                </a:extLst>
              </p:cNvPr>
              <p:cNvCxnSpPr/>
              <p:nvPr/>
            </p:nvCxnSpPr>
            <p:spPr>
              <a:xfrm flipV="1">
                <a:off x="301455" y="1037508"/>
                <a:ext cx="0" cy="9378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C39D2B9B-A32B-50E8-5113-B2B8902651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305800" y="1954108"/>
                <a:ext cx="607257" cy="5052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5378BB24-616E-765A-B1D3-AE6E74D2B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454" y="1975346"/>
                <a:ext cx="837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B047399B-D8AD-FE54-C7D6-52E154D233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7" t="44667" r="36638" b="45350"/>
          <a:stretch/>
        </p:blipFill>
        <p:spPr>
          <a:xfrm flipH="1">
            <a:off x="8702506" y="4684929"/>
            <a:ext cx="2078625" cy="752768"/>
          </a:xfrm>
          <a:prstGeom prst="rect">
            <a:avLst/>
          </a:prstGeo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30F53E0-AD9B-858A-ECEE-D41AEB589E02}"/>
              </a:ext>
            </a:extLst>
          </p:cNvPr>
          <p:cNvCxnSpPr>
            <a:cxnSpLocks/>
            <a:stCxn id="26" idx="6"/>
            <a:endCxn id="27" idx="6"/>
          </p:cNvCxnSpPr>
          <p:nvPr/>
        </p:nvCxnSpPr>
        <p:spPr>
          <a:xfrm flipV="1">
            <a:off x="8938920" y="4903362"/>
            <a:ext cx="351777" cy="5576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36E71E9-EF1C-579E-3AB5-38A899C7ACE7}"/>
              </a:ext>
            </a:extLst>
          </p:cNvPr>
          <p:cNvCxnSpPr>
            <a:cxnSpLocks/>
            <a:stCxn id="27" idx="6"/>
            <a:endCxn id="28" idx="6"/>
          </p:cNvCxnSpPr>
          <p:nvPr/>
        </p:nvCxnSpPr>
        <p:spPr>
          <a:xfrm flipV="1">
            <a:off x="9290697" y="4886921"/>
            <a:ext cx="351445" cy="1644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379F6D0B-854D-21FC-B068-68A1F07A9D29}"/>
              </a:ext>
            </a:extLst>
          </p:cNvPr>
          <p:cNvSpPr/>
          <p:nvPr/>
        </p:nvSpPr>
        <p:spPr>
          <a:xfrm>
            <a:off x="8707512" y="4830734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4C6727-F296-C2AA-0936-3C156BC26E21}"/>
              </a:ext>
            </a:extLst>
          </p:cNvPr>
          <p:cNvSpPr/>
          <p:nvPr/>
        </p:nvSpPr>
        <p:spPr>
          <a:xfrm>
            <a:off x="9059289" y="4774969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24FEB68-4C29-4704-731C-BB86AE822678}"/>
              </a:ext>
            </a:extLst>
          </p:cNvPr>
          <p:cNvSpPr/>
          <p:nvPr/>
        </p:nvSpPr>
        <p:spPr>
          <a:xfrm>
            <a:off x="9410734" y="4758528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32CBAF62-77E8-B25D-4D40-13CE9F698963}"/>
              </a:ext>
            </a:extLst>
          </p:cNvPr>
          <p:cNvSpPr txBox="1">
            <a:spLocks/>
          </p:cNvSpPr>
          <p:nvPr/>
        </p:nvSpPr>
        <p:spPr>
          <a:xfrm>
            <a:off x="8610600" y="5457526"/>
            <a:ext cx="2698687" cy="4392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Head </a:t>
            </a:r>
            <a:r>
              <a:rPr lang="en-US" sz="2400" dirty="0" err="1"/>
              <a:t>keypoints</a:t>
            </a:r>
            <a:endParaRPr lang="en-US" sz="2400" dirty="0"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32DC8166-8139-B1B3-18CF-F1D9A9134090}"/>
              </a:ext>
            </a:extLst>
          </p:cNvPr>
          <p:cNvGrpSpPr/>
          <p:nvPr/>
        </p:nvGrpSpPr>
        <p:grpSpPr>
          <a:xfrm>
            <a:off x="6642045" y="3105400"/>
            <a:ext cx="3368947" cy="1124472"/>
            <a:chOff x="6806682" y="2657807"/>
            <a:chExt cx="4555899" cy="1575599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3EE131B5-5D0D-182E-9151-18BAB68CFA49}"/>
                </a:ext>
              </a:extLst>
            </p:cNvPr>
            <p:cNvSpPr txBox="1">
              <a:spLocks/>
            </p:cNvSpPr>
            <p:nvPr/>
          </p:nvSpPr>
          <p:spPr>
            <a:xfrm>
              <a:off x="6806682" y="3671412"/>
              <a:ext cx="4555899" cy="56199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Head orientation</a:t>
              </a: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E703D4BF-B8BC-B831-2224-829854EC2B42}"/>
                </a:ext>
              </a:extLst>
            </p:cNvPr>
            <p:cNvCxnSpPr/>
            <p:nvPr/>
          </p:nvCxnSpPr>
          <p:spPr>
            <a:xfrm>
              <a:off x="7090858" y="2657807"/>
              <a:ext cx="190089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5B80C48-8619-D7B5-9B5D-2B958C12421B}"/>
                </a:ext>
              </a:extLst>
            </p:cNvPr>
            <p:cNvCxnSpPr/>
            <p:nvPr/>
          </p:nvCxnSpPr>
          <p:spPr>
            <a:xfrm flipH="1">
              <a:off x="7280947" y="2657807"/>
              <a:ext cx="39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6CA1140-AC3C-FEFD-62B0-DFCDD4BF07D5}"/>
                </a:ext>
              </a:extLst>
            </p:cNvPr>
            <p:cNvCxnSpPr/>
            <p:nvPr/>
          </p:nvCxnSpPr>
          <p:spPr>
            <a:xfrm flipH="1">
              <a:off x="7280947" y="2657807"/>
              <a:ext cx="84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B8F3C68D-25BC-300D-7AF7-1A194D767F41}"/>
                </a:ext>
              </a:extLst>
            </p:cNvPr>
            <p:cNvCxnSpPr/>
            <p:nvPr/>
          </p:nvCxnSpPr>
          <p:spPr>
            <a:xfrm flipH="1">
              <a:off x="7280947" y="2657807"/>
              <a:ext cx="1429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9B4C83DF-7DA3-1CF2-9505-22DE285F1FB6}"/>
                </a:ext>
              </a:extLst>
            </p:cNvPr>
            <p:cNvCxnSpPr/>
            <p:nvPr/>
          </p:nvCxnSpPr>
          <p:spPr>
            <a:xfrm flipH="1">
              <a:off x="7280947" y="2657807"/>
              <a:ext cx="1969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A8B88306-1DC3-9BE5-C46B-A79FB8314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24775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CB10CCDD-9D0A-8807-7AD0-929386106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2878729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8C7F9F27-06EA-7827-F1DA-F55CA9E4A2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345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E04D9C29-47D6-FF3C-5F6C-A0F66AD4F11E}"/>
              </a:ext>
            </a:extLst>
          </p:cNvPr>
          <p:cNvGrpSpPr/>
          <p:nvPr/>
        </p:nvGrpSpPr>
        <p:grpSpPr>
          <a:xfrm>
            <a:off x="8610600" y="4684929"/>
            <a:ext cx="2389043" cy="729540"/>
            <a:chOff x="5648837" y="4754388"/>
            <a:chExt cx="2389043" cy="729540"/>
          </a:xfrm>
        </p:grpSpPr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4F43F1AE-CFF6-0981-D0B1-712B3DB69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692" b="90110" l="8054" r="91275">
                          <a14:foregroundMark x1="9396" y1="57143" x2="8389" y2="53846"/>
                          <a14:foregroundMark x1="36577" y1="90110" x2="36577" y2="90110"/>
                          <a14:foregroundMark x1="87248" y1="28571" x2="87248" y2="28571"/>
                          <a14:foregroundMark x1="89262" y1="19780" x2="89262" y2="19780"/>
                          <a14:foregroundMark x1="91275" y1="12088" x2="91275" y2="12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5648837" y="4754388"/>
              <a:ext cx="2389043" cy="729540"/>
            </a:xfrm>
            <a:prstGeom prst="rect">
              <a:avLst/>
            </a:prstGeom>
          </p:spPr>
        </p:pic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00582B2C-3472-ABA8-2F92-6C11613702EF}"/>
                </a:ext>
              </a:extLst>
            </p:cNvPr>
            <p:cNvGrpSpPr/>
            <p:nvPr/>
          </p:nvGrpSpPr>
          <p:grpSpPr>
            <a:xfrm>
              <a:off x="5781000" y="4784936"/>
              <a:ext cx="1015586" cy="452020"/>
              <a:chOff x="8689927" y="5166287"/>
              <a:chExt cx="1015586" cy="452020"/>
            </a:xfrm>
          </p:grpSpPr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FD6C0DD6-30D1-5A56-38AD-76262C73368D}"/>
                  </a:ext>
                </a:extLst>
              </p:cNvPr>
              <p:cNvCxnSpPr>
                <a:cxnSpLocks/>
                <a:stCxn id="52" idx="6"/>
                <a:endCxn id="53" idx="6"/>
              </p:cNvCxnSpPr>
              <p:nvPr/>
            </p:nvCxnSpPr>
            <p:spPr>
              <a:xfrm flipV="1">
                <a:off x="8921335" y="5356230"/>
                <a:ext cx="292779" cy="133685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D24690DE-B205-2F0B-A163-14C645F50529}"/>
                  </a:ext>
                </a:extLst>
              </p:cNvPr>
              <p:cNvCxnSpPr>
                <a:cxnSpLocks/>
                <a:stCxn id="53" idx="6"/>
                <a:endCxn id="54" idx="6"/>
              </p:cNvCxnSpPr>
              <p:nvPr/>
            </p:nvCxnSpPr>
            <p:spPr>
              <a:xfrm flipV="1">
                <a:off x="9214114" y="5294680"/>
                <a:ext cx="491399" cy="6155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4D9558AF-E406-EF81-C194-69B28D30D014}"/>
                  </a:ext>
                </a:extLst>
              </p:cNvPr>
              <p:cNvSpPr/>
              <p:nvPr/>
            </p:nvSpPr>
            <p:spPr>
              <a:xfrm>
                <a:off x="8689927" y="5361522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614C086F-8766-6787-FEFB-CB7A62FBF398}"/>
                  </a:ext>
                </a:extLst>
              </p:cNvPr>
              <p:cNvSpPr/>
              <p:nvPr/>
            </p:nvSpPr>
            <p:spPr>
              <a:xfrm>
                <a:off x="8982706" y="5227837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C3AA184-DE43-89F2-D68F-A0199DD81C86}"/>
                  </a:ext>
                </a:extLst>
              </p:cNvPr>
              <p:cNvSpPr/>
              <p:nvPr/>
            </p:nvSpPr>
            <p:spPr>
              <a:xfrm>
                <a:off x="9474105" y="5166287"/>
                <a:ext cx="231408" cy="256785"/>
              </a:xfrm>
              <a:prstGeom prst="ellipse">
                <a:avLst/>
              </a:prstGeom>
              <a:solidFill>
                <a:srgbClr val="59C7EB"/>
              </a:solidFill>
              <a:ln>
                <a:solidFill>
                  <a:srgbClr val="59C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4748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8111" y="1825625"/>
            <a:ext cx="7641299" cy="4351338"/>
          </a:xfrm>
        </p:spPr>
        <p:txBody>
          <a:bodyPr>
            <a:normAutofit/>
          </a:bodyPr>
          <a:lstStyle/>
          <a:p>
            <a:r>
              <a:rPr lang="en-US" sz="3600" b="1" dirty="0"/>
              <a:t>Parameters:</a:t>
            </a:r>
          </a:p>
          <a:p>
            <a:pPr marL="571500" indent="-5715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sz="3600" dirty="0"/>
          </a:p>
          <a:p>
            <a:r>
              <a:rPr lang="en-US" sz="3600" b="1" dirty="0"/>
              <a:t>Error: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3A629E-A0CC-1371-55A0-95E0628F16D9}"/>
              </a:ext>
            </a:extLst>
          </p:cNvPr>
          <p:cNvSpPr txBox="1"/>
          <p:nvPr/>
        </p:nvSpPr>
        <p:spPr>
          <a:xfrm>
            <a:off x="6859745" y="5938391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Adapted from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AECE9A-69B7-AFE9-24C8-94A12C386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85" t="13501" r="1871" b="-331"/>
          <a:stretch/>
        </p:blipFill>
        <p:spPr>
          <a:xfrm>
            <a:off x="1174856" y="1825625"/>
            <a:ext cx="1776732" cy="4128495"/>
          </a:xfrm>
          <a:prstGeom prst="rect">
            <a:avLst/>
          </a:prstGeom>
        </p:spPr>
      </p:pic>
      <p:pic>
        <p:nvPicPr>
          <p:cNvPr id="2" name="Grafik 1" descr="Ein Bild, das Design enthält.&#10;&#10;Automatisch generierte Beschreibung mit geringer Zuverlässigkeit">
            <a:extLst>
              <a:ext uri="{FF2B5EF4-FFF2-40B4-BE49-F238E27FC236}">
                <a16:creationId xmlns:a16="http://schemas.microsoft.com/office/drawing/2014/main" id="{BC64038E-6EDB-EAAE-DC10-90A219100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178" y="2231538"/>
            <a:ext cx="4854856" cy="152645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B684335-384D-B0F5-EEB4-2547027D754A}"/>
              </a:ext>
            </a:extLst>
          </p:cNvPr>
          <p:cNvGrpSpPr/>
          <p:nvPr/>
        </p:nvGrpSpPr>
        <p:grpSpPr>
          <a:xfrm>
            <a:off x="6657234" y="1405309"/>
            <a:ext cx="3502442" cy="847157"/>
            <a:chOff x="2270824" y="2374184"/>
            <a:chExt cx="4480926" cy="1083829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91465A20-9B23-1477-BC93-0C4D3B127B67}"/>
                </a:ext>
              </a:extLst>
            </p:cNvPr>
            <p:cNvSpPr txBox="1">
              <a:spLocks/>
            </p:cNvSpPr>
            <p:nvPr/>
          </p:nvSpPr>
          <p:spPr>
            <a:xfrm>
              <a:off x="3175868" y="2503093"/>
              <a:ext cx="3575882" cy="56199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Global location</a:t>
              </a:r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BE83ECA-4A98-4127-8CEE-1E0461D24283}"/>
                </a:ext>
              </a:extLst>
            </p:cNvPr>
            <p:cNvGrpSpPr/>
            <p:nvPr/>
          </p:nvGrpSpPr>
          <p:grpSpPr>
            <a:xfrm>
              <a:off x="2270824" y="2374184"/>
              <a:ext cx="1101365" cy="1083829"/>
              <a:chOff x="-305800" y="1037508"/>
              <a:chExt cx="1444854" cy="1421848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5821D8D0-3AC6-3F7A-1F33-969377B83F0D}"/>
                  </a:ext>
                </a:extLst>
              </p:cNvPr>
              <p:cNvCxnSpPr/>
              <p:nvPr/>
            </p:nvCxnSpPr>
            <p:spPr>
              <a:xfrm flipV="1">
                <a:off x="301455" y="1037508"/>
                <a:ext cx="0" cy="9378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C39D2B9B-A32B-50E8-5113-B2B8902651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305800" y="1954108"/>
                <a:ext cx="607257" cy="50524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5378BB24-616E-765A-B1D3-AE6E74D2B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454" y="1975346"/>
                <a:ext cx="837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32DC8166-8139-B1B3-18CF-F1D9A9134090}"/>
              </a:ext>
            </a:extLst>
          </p:cNvPr>
          <p:cNvGrpSpPr/>
          <p:nvPr/>
        </p:nvGrpSpPr>
        <p:grpSpPr>
          <a:xfrm>
            <a:off x="6642045" y="3105400"/>
            <a:ext cx="3368947" cy="1124472"/>
            <a:chOff x="6806682" y="2657807"/>
            <a:chExt cx="4555899" cy="1575599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3EE131B5-5D0D-182E-9151-18BAB68CFA49}"/>
                </a:ext>
              </a:extLst>
            </p:cNvPr>
            <p:cNvSpPr txBox="1">
              <a:spLocks/>
            </p:cNvSpPr>
            <p:nvPr/>
          </p:nvSpPr>
          <p:spPr>
            <a:xfrm>
              <a:off x="6806682" y="3671412"/>
              <a:ext cx="4555899" cy="56199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Head orientation</a:t>
              </a: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E703D4BF-B8BC-B831-2224-829854EC2B42}"/>
                </a:ext>
              </a:extLst>
            </p:cNvPr>
            <p:cNvCxnSpPr/>
            <p:nvPr/>
          </p:nvCxnSpPr>
          <p:spPr>
            <a:xfrm>
              <a:off x="7090858" y="2657807"/>
              <a:ext cx="190089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5B80C48-8619-D7B5-9B5D-2B958C12421B}"/>
                </a:ext>
              </a:extLst>
            </p:cNvPr>
            <p:cNvCxnSpPr/>
            <p:nvPr/>
          </p:nvCxnSpPr>
          <p:spPr>
            <a:xfrm flipH="1">
              <a:off x="7280947" y="2657807"/>
              <a:ext cx="39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6CA1140-AC3C-FEFD-62B0-DFCDD4BF07D5}"/>
                </a:ext>
              </a:extLst>
            </p:cNvPr>
            <p:cNvCxnSpPr/>
            <p:nvPr/>
          </p:nvCxnSpPr>
          <p:spPr>
            <a:xfrm flipH="1">
              <a:off x="7280947" y="2657807"/>
              <a:ext cx="84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B8F3C68D-25BC-300D-7AF7-1A194D767F41}"/>
                </a:ext>
              </a:extLst>
            </p:cNvPr>
            <p:cNvCxnSpPr/>
            <p:nvPr/>
          </p:nvCxnSpPr>
          <p:spPr>
            <a:xfrm flipH="1">
              <a:off x="7280947" y="2657807"/>
              <a:ext cx="1429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9B4C83DF-7DA3-1CF2-9505-22DE285F1FB6}"/>
                </a:ext>
              </a:extLst>
            </p:cNvPr>
            <p:cNvCxnSpPr/>
            <p:nvPr/>
          </p:nvCxnSpPr>
          <p:spPr>
            <a:xfrm flipH="1">
              <a:off x="7280947" y="2657807"/>
              <a:ext cx="1969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A8B88306-1DC3-9BE5-C46B-A79FB8314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24775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CB10CCDD-9D0A-8807-7AD0-929386106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2878729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8C7F9F27-06EA-7827-F1DA-F55CA9E4A2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47" y="2657807"/>
              <a:ext cx="3454911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D06EC37-DF03-F83B-C8F5-74304905DA94}"/>
              </a:ext>
            </a:extLst>
          </p:cNvPr>
          <p:cNvGrpSpPr/>
          <p:nvPr/>
        </p:nvGrpSpPr>
        <p:grpSpPr>
          <a:xfrm>
            <a:off x="9844254" y="2252466"/>
            <a:ext cx="2698686" cy="2021452"/>
            <a:chOff x="8349005" y="1740613"/>
            <a:chExt cx="3609010" cy="2703331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E6EC9941-7A4F-0981-2AA6-EF666E97BCA1}"/>
                </a:ext>
              </a:extLst>
            </p:cNvPr>
            <p:cNvCxnSpPr>
              <a:cxnSpLocks/>
            </p:cNvCxnSpPr>
            <p:nvPr/>
          </p:nvCxnSpPr>
          <p:spPr>
            <a:xfrm>
              <a:off x="8349005" y="1740613"/>
              <a:ext cx="0" cy="264442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Content Placeholder 2">
              <a:extLst>
                <a:ext uri="{FF2B5EF4-FFF2-40B4-BE49-F238E27FC236}">
                  <a16:creationId xmlns:a16="http://schemas.microsoft.com/office/drawing/2014/main" id="{8973A88D-050F-592C-7DAA-685C6ECC0E20}"/>
                </a:ext>
              </a:extLst>
            </p:cNvPr>
            <p:cNvSpPr txBox="1">
              <a:spLocks/>
            </p:cNvSpPr>
            <p:nvPr/>
          </p:nvSpPr>
          <p:spPr>
            <a:xfrm>
              <a:off x="8349005" y="3858223"/>
              <a:ext cx="3609010" cy="58572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Tail orientation</a:t>
              </a:r>
            </a:p>
          </p:txBody>
        </p: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28C19F1E-44AB-2B78-5FCB-0D622EDBB7C4}"/>
                </a:ext>
              </a:extLst>
            </p:cNvPr>
            <p:cNvCxnSpPr>
              <a:cxnSpLocks/>
            </p:cNvCxnSpPr>
            <p:nvPr/>
          </p:nvCxnSpPr>
          <p:spPr>
            <a:xfrm>
              <a:off x="8480493" y="2898387"/>
              <a:ext cx="411048" cy="8418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D14B91B-7094-8286-BC42-78DFFBF9643C}"/>
                </a:ext>
              </a:extLst>
            </p:cNvPr>
            <p:cNvCxnSpPr>
              <a:cxnSpLocks/>
            </p:cNvCxnSpPr>
            <p:nvPr/>
          </p:nvCxnSpPr>
          <p:spPr>
            <a:xfrm>
              <a:off x="8891541" y="2881259"/>
              <a:ext cx="0" cy="8589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E359A493-D592-1874-B27C-D7145D7E12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1541" y="2881259"/>
              <a:ext cx="527530" cy="8589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C657667E-5ACB-CBA5-CD59-5B9922FB0A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27" t="44667" r="36638" b="45350"/>
          <a:stretch/>
        </p:blipFill>
        <p:spPr>
          <a:xfrm flipH="1">
            <a:off x="9121480" y="4706422"/>
            <a:ext cx="2078625" cy="752768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4261AB-58D1-A6B7-1911-B726BF3CCD4D}"/>
              </a:ext>
            </a:extLst>
          </p:cNvPr>
          <p:cNvCxnSpPr>
            <a:cxnSpLocks/>
            <a:stCxn id="30" idx="6"/>
            <a:endCxn id="42" idx="6"/>
          </p:cNvCxnSpPr>
          <p:nvPr/>
        </p:nvCxnSpPr>
        <p:spPr>
          <a:xfrm flipV="1">
            <a:off x="9357894" y="4924855"/>
            <a:ext cx="351777" cy="5576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FF5EDDA-746C-B007-3ACF-374822D6848F}"/>
              </a:ext>
            </a:extLst>
          </p:cNvPr>
          <p:cNvCxnSpPr>
            <a:cxnSpLocks/>
            <a:stCxn id="42" idx="6"/>
            <a:endCxn id="44" idx="6"/>
          </p:cNvCxnSpPr>
          <p:nvPr/>
        </p:nvCxnSpPr>
        <p:spPr>
          <a:xfrm flipV="1">
            <a:off x="9709671" y="4908414"/>
            <a:ext cx="351445" cy="1644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0E729AD-079E-031F-5A7C-C4C604844E18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9940747" y="4780022"/>
            <a:ext cx="747651" cy="12719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E2F2A1B9-CFE9-0C29-D9A8-9BF27E9FB11F}"/>
              </a:ext>
            </a:extLst>
          </p:cNvPr>
          <p:cNvCxnSpPr>
            <a:cxnSpLocks/>
            <a:stCxn id="45" idx="5"/>
            <a:endCxn id="47" idx="5"/>
          </p:cNvCxnSpPr>
          <p:nvPr/>
        </p:nvCxnSpPr>
        <p:spPr>
          <a:xfrm>
            <a:off x="10885917" y="4870809"/>
            <a:ext cx="312972" cy="30709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ED04DD6C-E14A-87A4-F78E-007D78AAA946}"/>
              </a:ext>
            </a:extLst>
          </p:cNvPr>
          <p:cNvSpPr/>
          <p:nvPr/>
        </p:nvSpPr>
        <p:spPr>
          <a:xfrm>
            <a:off x="9126486" y="4852227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412DECFB-1414-C700-4393-C33C73015C9B}"/>
              </a:ext>
            </a:extLst>
          </p:cNvPr>
          <p:cNvSpPr/>
          <p:nvPr/>
        </p:nvSpPr>
        <p:spPr>
          <a:xfrm>
            <a:off x="9478263" y="4796462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FF16620-242A-9DD3-7D9E-B73675F59950}"/>
              </a:ext>
            </a:extLst>
          </p:cNvPr>
          <p:cNvSpPr/>
          <p:nvPr/>
        </p:nvSpPr>
        <p:spPr>
          <a:xfrm>
            <a:off x="9829708" y="4780021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E3F39DE-6266-5051-9263-7E0D44BC234E}"/>
              </a:ext>
            </a:extLst>
          </p:cNvPr>
          <p:cNvSpPr/>
          <p:nvPr/>
        </p:nvSpPr>
        <p:spPr>
          <a:xfrm>
            <a:off x="10688398" y="4651629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90C274CA-872B-3A20-C596-800BA4BDFDCE}"/>
              </a:ext>
            </a:extLst>
          </p:cNvPr>
          <p:cNvSpPr/>
          <p:nvPr/>
        </p:nvSpPr>
        <p:spPr>
          <a:xfrm>
            <a:off x="11001370" y="4958728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72AAA62-FE1A-8DB5-B896-91B0A1C0B525}"/>
              </a:ext>
            </a:extLst>
          </p:cNvPr>
          <p:cNvGrpSpPr/>
          <p:nvPr/>
        </p:nvGrpSpPr>
        <p:grpSpPr>
          <a:xfrm>
            <a:off x="6561512" y="4766403"/>
            <a:ext cx="2795029" cy="1122822"/>
            <a:chOff x="5934231" y="4775641"/>
            <a:chExt cx="2795029" cy="1122822"/>
          </a:xfrm>
        </p:grpSpPr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07CBC6BF-8825-B764-13E9-3E75054FF7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27" t="44667" r="36638" b="45350"/>
            <a:stretch/>
          </p:blipFill>
          <p:spPr>
            <a:xfrm flipH="1">
              <a:off x="6001040" y="4775641"/>
              <a:ext cx="2078625" cy="752768"/>
            </a:xfrm>
            <a:prstGeom prst="rect">
              <a:avLst/>
            </a:prstGeom>
          </p:spPr>
        </p:pic>
        <p:sp>
          <p:nvSpPr>
            <p:cNvPr id="70" name="Content Placeholder 2">
              <a:extLst>
                <a:ext uri="{FF2B5EF4-FFF2-40B4-BE49-F238E27FC236}">
                  <a16:creationId xmlns:a16="http://schemas.microsoft.com/office/drawing/2014/main" id="{1EC61DC4-EDB6-FFFE-E240-8ED9BDA600B8}"/>
                </a:ext>
              </a:extLst>
            </p:cNvPr>
            <p:cNvSpPr txBox="1">
              <a:spLocks/>
            </p:cNvSpPr>
            <p:nvPr/>
          </p:nvSpPr>
          <p:spPr>
            <a:xfrm>
              <a:off x="5934231" y="5459190"/>
              <a:ext cx="2795029" cy="43927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marR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A9E0"/>
                </a:buClr>
                <a:buSzTx/>
                <a:buFont typeface="Arial" panose="020B0604020202020204" pitchFamily="34" charset="0"/>
                <a:buNone/>
                <a:tabLst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None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4EBCE0"/>
                </a:buClr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Silhouette</a:t>
              </a:r>
            </a:p>
          </p:txBody>
        </p:sp>
      </p:grp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ABA17978-CC31-24A2-B680-DBE84715A142}"/>
              </a:ext>
            </a:extLst>
          </p:cNvPr>
          <p:cNvSpPr txBox="1">
            <a:spLocks/>
          </p:cNvSpPr>
          <p:nvPr/>
        </p:nvSpPr>
        <p:spPr>
          <a:xfrm>
            <a:off x="9029574" y="5472136"/>
            <a:ext cx="2698687" cy="4392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Keypoints</a:t>
            </a:r>
            <a:endParaRPr lang="en-US" sz="2400" dirty="0"/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3AD3703C-D619-B79F-F4F9-AEEC94BAE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451" b="90141" l="4561" r="96491">
                        <a14:foregroundMark x1="8772" y1="47887" x2="10526" y2="54930"/>
                        <a14:foregroundMark x1="5614" y1="46479" x2="5614" y2="46479"/>
                        <a14:foregroundMark x1="22807" y1="84507" x2="34035" y2="91549"/>
                        <a14:foregroundMark x1="89123" y1="56338" x2="93333" y2="59155"/>
                        <a14:foregroundMark x1="96491" y1="63380" x2="96491" y2="633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73652">
            <a:off x="6561297" y="4573615"/>
            <a:ext cx="2298554" cy="572622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7500A914-FD73-5943-D48C-FE5329E19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451" b="90141" l="4561" r="96491">
                        <a14:foregroundMark x1="8772" y1="47887" x2="10526" y2="54930"/>
                        <a14:foregroundMark x1="5614" y1="46479" x2="5614" y2="46479"/>
                        <a14:foregroundMark x1="22807" y1="84507" x2="34035" y2="91549"/>
                        <a14:foregroundMark x1="89123" y1="56338" x2="93333" y2="59155"/>
                        <a14:foregroundMark x1="96491" y1="63380" x2="96491" y2="633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276176">
            <a:off x="9067156" y="4602523"/>
            <a:ext cx="2298554" cy="572622"/>
          </a:xfrm>
          <a:prstGeom prst="rect">
            <a:avLst/>
          </a:prstGeom>
        </p:spPr>
      </p:pic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CF662CC-87C6-02BA-5FC8-F6076D28BB04}"/>
              </a:ext>
            </a:extLst>
          </p:cNvPr>
          <p:cNvCxnSpPr>
            <a:cxnSpLocks/>
            <a:stCxn id="83" idx="6"/>
            <a:endCxn id="84" idx="6"/>
          </p:cNvCxnSpPr>
          <p:nvPr/>
        </p:nvCxnSpPr>
        <p:spPr>
          <a:xfrm>
            <a:off x="9354738" y="4980620"/>
            <a:ext cx="322628" cy="8777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AFEAE344-D7C7-DB6F-B934-064F35AB3FB7}"/>
              </a:ext>
            </a:extLst>
          </p:cNvPr>
          <p:cNvCxnSpPr>
            <a:cxnSpLocks/>
            <a:stCxn id="84" idx="6"/>
            <a:endCxn id="85" idx="6"/>
          </p:cNvCxnSpPr>
          <p:nvPr/>
        </p:nvCxnSpPr>
        <p:spPr>
          <a:xfrm flipV="1">
            <a:off x="9677366" y="5049516"/>
            <a:ext cx="449330" cy="1887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E63BC03-A0B3-7534-061C-97E5EDD696D3}"/>
              </a:ext>
            </a:extLst>
          </p:cNvPr>
          <p:cNvCxnSpPr>
            <a:cxnSpLocks/>
            <a:stCxn id="85" idx="2"/>
            <a:endCxn id="86" idx="2"/>
          </p:cNvCxnSpPr>
          <p:nvPr/>
        </p:nvCxnSpPr>
        <p:spPr>
          <a:xfrm flipV="1">
            <a:off x="9895288" y="4896113"/>
            <a:ext cx="727402" cy="15340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6192DC89-993A-926F-7199-3495042AB9A3}"/>
              </a:ext>
            </a:extLst>
          </p:cNvPr>
          <p:cNvSpPr/>
          <p:nvPr/>
        </p:nvSpPr>
        <p:spPr>
          <a:xfrm>
            <a:off x="9123330" y="4852227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4B2B6975-546C-B93F-1D0F-A33F51ED634D}"/>
              </a:ext>
            </a:extLst>
          </p:cNvPr>
          <p:cNvSpPr/>
          <p:nvPr/>
        </p:nvSpPr>
        <p:spPr>
          <a:xfrm>
            <a:off x="9445958" y="4939999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641532BD-70B3-6625-D83F-14CF242AA86D}"/>
              </a:ext>
            </a:extLst>
          </p:cNvPr>
          <p:cNvSpPr/>
          <p:nvPr/>
        </p:nvSpPr>
        <p:spPr>
          <a:xfrm>
            <a:off x="9895288" y="4921123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E5D9680-CCA5-CD50-2CB9-863FF7153A96}"/>
              </a:ext>
            </a:extLst>
          </p:cNvPr>
          <p:cNvSpPr/>
          <p:nvPr/>
        </p:nvSpPr>
        <p:spPr>
          <a:xfrm>
            <a:off x="10622690" y="4767720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75E45215-B38A-7944-34B0-EDF6F86B47A6}"/>
              </a:ext>
            </a:extLst>
          </p:cNvPr>
          <p:cNvSpPr/>
          <p:nvPr/>
        </p:nvSpPr>
        <p:spPr>
          <a:xfrm>
            <a:off x="11199660" y="4767721"/>
            <a:ext cx="231408" cy="256785"/>
          </a:xfrm>
          <a:prstGeom prst="ellipse">
            <a:avLst/>
          </a:prstGeom>
          <a:solidFill>
            <a:srgbClr val="59C7EB"/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102" name="Grafik 101">
            <a:extLst>
              <a:ext uri="{FF2B5EF4-FFF2-40B4-BE49-F238E27FC236}">
                <a16:creationId xmlns:a16="http://schemas.microsoft.com/office/drawing/2014/main" id="{0A12DB7E-83D3-E1F8-B64E-D99FF85D5D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92" b="90110" l="8054" r="91275">
                        <a14:foregroundMark x1="9396" y1="57143" x2="8389" y2="53846"/>
                        <a14:foregroundMark x1="36577" y1="90110" x2="36577" y2="90110"/>
                        <a14:foregroundMark x1="87248" y1="28571" x2="87248" y2="28571"/>
                        <a14:foregroundMark x1="89262" y1="19780" x2="89262" y2="19780"/>
                        <a14:foregroundMark x1="91275" y1="12088" x2="91275" y2="120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010230" y="4780284"/>
            <a:ext cx="2389043" cy="729540"/>
          </a:xfrm>
          <a:prstGeom prst="rect">
            <a:avLst/>
          </a:prstGeom>
        </p:spPr>
      </p:pic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05BDA74C-AA91-34F7-8E00-1206ED30AA61}"/>
              </a:ext>
            </a:extLst>
          </p:cNvPr>
          <p:cNvSpPr txBox="1">
            <a:spLocks/>
          </p:cNvSpPr>
          <p:nvPr/>
        </p:nvSpPr>
        <p:spPr>
          <a:xfrm>
            <a:off x="3978489" y="5423979"/>
            <a:ext cx="2260395" cy="8631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Result of head fitting</a:t>
            </a:r>
          </a:p>
        </p:txBody>
      </p:sp>
    </p:spTree>
    <p:extLst>
      <p:ext uri="{BB962C8B-B14F-4D97-AF65-F5344CB8AC3E}">
        <p14:creationId xmlns:p14="http://schemas.microsoft.com/office/powerpoint/2010/main" val="1826534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r>
              <a:rPr lang="en-US" sz="3600" u="sng" dirty="0"/>
              <a:t>Sequential smoothness</a:t>
            </a:r>
          </a:p>
          <a:p>
            <a:pPr marL="571500" indent="-571500">
              <a:buBlip>
                <a:blip r:embed="rId2"/>
              </a:buBlip>
            </a:pPr>
            <a:r>
              <a:rPr lang="en-US" sz="3600" dirty="0"/>
              <a:t>Large change between frames is bad</a:t>
            </a:r>
          </a:p>
          <a:p>
            <a:pPr marL="571500" indent="-571500">
              <a:buFont typeface="Arial" panose="020B0604020202020204" pitchFamily="34" charset="0"/>
              <a:buChar char="→"/>
            </a:pPr>
            <a:r>
              <a:rPr lang="en-US" sz="3600" dirty="0"/>
              <a:t>Current frame is </a:t>
            </a:r>
            <a:r>
              <a:rPr lang="en-US" sz="3600" b="1" dirty="0"/>
              <a:t>initialized with 3D model of last frame</a:t>
            </a:r>
            <a:endParaRPr lang="en-US" sz="3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3046647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r>
              <a:rPr lang="en-US" sz="3600" u="sng" dirty="0"/>
              <a:t>Sequential smoothness</a:t>
            </a:r>
          </a:p>
          <a:p>
            <a:pPr marL="571500" indent="-571500">
              <a:buBlip>
                <a:blip r:embed="rId2"/>
              </a:buBlip>
            </a:pPr>
            <a:r>
              <a:rPr lang="en-US" sz="3600" dirty="0"/>
              <a:t>Large change between frames is bad</a:t>
            </a:r>
          </a:p>
          <a:p>
            <a:pPr marL="571500" indent="-571500">
              <a:buFont typeface="Arial" panose="020B0604020202020204" pitchFamily="34" charset="0"/>
              <a:buChar char="→"/>
            </a:pPr>
            <a:r>
              <a:rPr lang="en-US" sz="3600" dirty="0"/>
              <a:t>Current frame is </a:t>
            </a:r>
            <a:r>
              <a:rPr lang="en-US" sz="3600" b="1" dirty="0"/>
              <a:t>initialized with 3D model of last frame</a:t>
            </a:r>
          </a:p>
          <a:p>
            <a:pPr marL="571500" indent="-571500">
              <a:buFont typeface="Arial" panose="020B0604020202020204" pitchFamily="34" charset="0"/>
              <a:buChar char="→"/>
            </a:pPr>
            <a:r>
              <a:rPr lang="en-US" sz="3600" dirty="0"/>
              <a:t>Use </a:t>
            </a:r>
            <a:r>
              <a:rPr lang="en-US" sz="3600" b="1" dirty="0"/>
              <a:t>post-processing step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endParaRPr lang="en-US" sz="36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0472A7B-4D63-3751-5D1F-93C719D6F3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19" t="11933" r="904" b="10318"/>
          <a:stretch/>
        </p:blipFill>
        <p:spPr>
          <a:xfrm>
            <a:off x="8610600" y="2034000"/>
            <a:ext cx="2924999" cy="3510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43A629E-A0CC-1371-55A0-95E0628F16D9}"/>
              </a:ext>
            </a:extLst>
          </p:cNvPr>
          <p:cNvSpPr txBox="1"/>
          <p:nvPr/>
        </p:nvSpPr>
        <p:spPr>
          <a:xfrm>
            <a:off x="7466257" y="5938391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722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u="sng" dirty="0"/>
              <a:t>Usage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438763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u="sng" dirty="0"/>
              <a:t>Usage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dirty="0"/>
              <a:t>Training: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Training data sets for</a:t>
            </a:r>
          </a:p>
          <a:p>
            <a:pPr marL="1657350" lvl="2" indent="-514350">
              <a:buFont typeface="Symbol" panose="05050102010706020507" pitchFamily="18" charset="2"/>
              <a:buChar char="-"/>
            </a:pPr>
            <a:r>
              <a:rPr lang="en-US" sz="2800" dirty="0"/>
              <a:t>Mask R-CNN (~300 </a:t>
            </a:r>
            <a:r>
              <a:rPr lang="en-US" sz="2800" b="1" dirty="0"/>
              <a:t>manually masked </a:t>
            </a:r>
            <a:r>
              <a:rPr lang="en-US" sz="2800" dirty="0"/>
              <a:t>images)</a:t>
            </a:r>
          </a:p>
          <a:p>
            <a:pPr marL="1657350" lvl="2" indent="-514350">
              <a:buFont typeface="Symbol" panose="05050102010706020507" pitchFamily="18" charset="2"/>
              <a:buChar char="-"/>
            </a:pPr>
            <a:r>
              <a:rPr lang="en-US" sz="2800" dirty="0" err="1"/>
              <a:t>DeepLabCut</a:t>
            </a:r>
            <a:r>
              <a:rPr lang="en-US" sz="2800" dirty="0"/>
              <a:t> (~200 </a:t>
            </a:r>
            <a:r>
              <a:rPr lang="en-US" sz="2800" b="1" dirty="0"/>
              <a:t>manually labeled </a:t>
            </a:r>
            <a:r>
              <a:rPr lang="en-US" sz="2800" dirty="0"/>
              <a:t>images)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790235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u="sng" dirty="0"/>
              <a:t>Usage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dirty="0"/>
              <a:t>Training: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Training data sets for</a:t>
            </a:r>
          </a:p>
          <a:p>
            <a:pPr marL="1657350" lvl="2" indent="-514350">
              <a:buFont typeface="Symbol" panose="05050102010706020507" pitchFamily="18" charset="2"/>
              <a:buChar char="-"/>
            </a:pPr>
            <a:r>
              <a:rPr lang="en-US" sz="2800" dirty="0"/>
              <a:t>Mask R-CNN (~300 </a:t>
            </a:r>
            <a:r>
              <a:rPr lang="en-US" sz="2800" b="1" dirty="0"/>
              <a:t>manually masked </a:t>
            </a:r>
            <a:r>
              <a:rPr lang="en-US" sz="2800" dirty="0"/>
              <a:t>images)</a:t>
            </a:r>
          </a:p>
          <a:p>
            <a:pPr marL="1657350" lvl="2" indent="-514350">
              <a:buFont typeface="Symbol" panose="05050102010706020507" pitchFamily="18" charset="2"/>
              <a:buChar char="-"/>
            </a:pPr>
            <a:r>
              <a:rPr lang="en-US" sz="2800" dirty="0" err="1"/>
              <a:t>DeepLabCut</a:t>
            </a:r>
            <a:r>
              <a:rPr lang="en-US" sz="2800" dirty="0"/>
              <a:t> (~200 </a:t>
            </a:r>
            <a:r>
              <a:rPr lang="en-US" sz="2800" b="1" dirty="0"/>
              <a:t>manually labeled </a:t>
            </a:r>
            <a:r>
              <a:rPr lang="en-US" sz="2800" dirty="0"/>
              <a:t>images)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dirty="0"/>
              <a:t>Input: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One video each from </a:t>
            </a:r>
            <a:r>
              <a:rPr lang="en-US" sz="2800" b="1" dirty="0"/>
              <a:t>front and bottom view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dirty="0"/>
              <a:t>Output: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4D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2793936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u="sng" dirty="0"/>
              <a:t>Quantitative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NVIDIA GeForce RTX 3090 GPU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Avg fitting time: 36s/frame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435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BCE0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Quantitative</a:t>
            </a:r>
            <a:endParaRPr lang="en-US" sz="2400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NVIDIA GeForce RTX 3090 GPU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Avg fitting time: 36s/frame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sz="3200" dirty="0"/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Intersection over Union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0.68 front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0.65 bottom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7E40419-D4AB-2C1A-4722-5314D039B8B0}"/>
              </a:ext>
            </a:extLst>
          </p:cNvPr>
          <p:cNvSpPr/>
          <p:nvPr/>
        </p:nvSpPr>
        <p:spPr>
          <a:xfrm>
            <a:off x="7526252" y="3564000"/>
            <a:ext cx="1936255" cy="1080000"/>
          </a:xfrm>
          <a:prstGeom prst="roundRect">
            <a:avLst/>
          </a:prstGeom>
          <a:solidFill>
            <a:srgbClr val="FFC000">
              <a:alpha val="6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DB9E172-3E22-8EFE-4039-9E21FA2FE679}"/>
              </a:ext>
            </a:extLst>
          </p:cNvPr>
          <p:cNvSpPr/>
          <p:nvPr/>
        </p:nvSpPr>
        <p:spPr>
          <a:xfrm>
            <a:off x="8308979" y="3834000"/>
            <a:ext cx="1936255" cy="1080000"/>
          </a:xfrm>
          <a:prstGeom prst="roundRect">
            <a:avLst/>
          </a:prstGeom>
          <a:solidFill>
            <a:srgbClr val="59C7EB">
              <a:alpha val="62000"/>
            </a:srgbClr>
          </a:solidFill>
          <a:ln>
            <a:solidFill>
              <a:srgbClr val="59C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7F36684-71A5-F6AA-5DE4-798D161741AE}"/>
              </a:ext>
            </a:extLst>
          </p:cNvPr>
          <p:cNvCxnSpPr/>
          <p:nvPr/>
        </p:nvCxnSpPr>
        <p:spPr>
          <a:xfrm flipH="1">
            <a:off x="8983979" y="3396706"/>
            <a:ext cx="810000" cy="85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D4F7B7DB-33C0-F381-273F-341D6A70CCAB}"/>
              </a:ext>
            </a:extLst>
          </p:cNvPr>
          <p:cNvSpPr txBox="1"/>
          <p:nvPr/>
        </p:nvSpPr>
        <p:spPr>
          <a:xfrm>
            <a:off x="9283272" y="2980041"/>
            <a:ext cx="206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Intersection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5AAC61E7-2585-9326-12C8-AEC1A7334C77}"/>
              </a:ext>
            </a:extLst>
          </p:cNvPr>
          <p:cNvSpPr/>
          <p:nvPr/>
        </p:nvSpPr>
        <p:spPr>
          <a:xfrm rot="16200000">
            <a:off x="8718882" y="3985354"/>
            <a:ext cx="328481" cy="272422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042EE9C-E749-4F58-7A77-AAEEF7D13B5B}"/>
              </a:ext>
            </a:extLst>
          </p:cNvPr>
          <p:cNvSpPr txBox="1"/>
          <p:nvPr/>
        </p:nvSpPr>
        <p:spPr>
          <a:xfrm>
            <a:off x="7849172" y="5469604"/>
            <a:ext cx="206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2863216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u="sng" dirty="0"/>
              <a:t>Comparison to other approaches</a:t>
            </a:r>
          </a:p>
          <a:p>
            <a:pPr marL="514350" indent="-514350">
              <a:buFont typeface="Arial" panose="020B0604020202020204" pitchFamily="34" charset="0"/>
              <a:buChar char="☺"/>
            </a:pPr>
            <a:r>
              <a:rPr lang="en-US" sz="3200" b="1" dirty="0"/>
              <a:t>Smaller training data </a:t>
            </a:r>
            <a:r>
              <a:rPr lang="en-US" sz="3200" dirty="0"/>
              <a:t>than </a:t>
            </a:r>
            <a:r>
              <a:rPr lang="en-US" sz="3200" dirty="0" err="1"/>
              <a:t>AvianMesh</a:t>
            </a:r>
            <a:endParaRPr lang="en-US" sz="3200" dirty="0"/>
          </a:p>
          <a:p>
            <a:pPr marL="514350" indent="-514350">
              <a:buFont typeface="Arial" panose="020B0604020202020204" pitchFamily="34" charset="0"/>
              <a:buChar char="☺"/>
            </a:pPr>
            <a:r>
              <a:rPr lang="en-US" sz="3200" b="1" dirty="0"/>
              <a:t>Smoother</a:t>
            </a:r>
            <a:r>
              <a:rPr lang="en-US" sz="3200" dirty="0"/>
              <a:t> than </a:t>
            </a:r>
            <a:r>
              <a:rPr lang="en-US" sz="3200" dirty="0" err="1"/>
              <a:t>AvianMesh</a:t>
            </a:r>
            <a:r>
              <a:rPr lang="en-US" sz="3200" dirty="0"/>
              <a:t> </a:t>
            </a:r>
          </a:p>
          <a:p>
            <a:pPr lvl="1"/>
            <a:r>
              <a:rPr lang="en-US" sz="3200" dirty="0"/>
              <a:t>… but </a:t>
            </a:r>
            <a:r>
              <a:rPr lang="en-US" sz="3200" b="1" dirty="0"/>
              <a:t>higher </a:t>
            </a:r>
            <a:r>
              <a:rPr lang="en-US" sz="3200" b="1" dirty="0" err="1"/>
              <a:t>keypoint</a:t>
            </a:r>
            <a:r>
              <a:rPr lang="en-US" sz="3200" b="1" dirty="0"/>
              <a:t>-error</a:t>
            </a:r>
          </a:p>
          <a:p>
            <a:pPr marL="514350" indent="-514350">
              <a:buFont typeface="Arial" panose="020B0604020202020204" pitchFamily="34" charset="0"/>
              <a:buChar char="☺"/>
            </a:pPr>
            <a:r>
              <a:rPr lang="en-US" sz="3200" b="1" dirty="0"/>
              <a:t>More accurate </a:t>
            </a:r>
            <a:r>
              <a:rPr lang="en-US" sz="3200" dirty="0"/>
              <a:t>results than LASR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156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0CB794-8EF9-8354-B22F-8AED512B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A51B64B-3E15-89B2-F3EC-6492CCD42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72" y="1515491"/>
            <a:ext cx="7700855" cy="448194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29DB3F2-517B-5DF4-BADD-AFE8D2BA9858}"/>
              </a:ext>
            </a:extLst>
          </p:cNvPr>
          <p:cNvSpPr txBox="1"/>
          <p:nvPr/>
        </p:nvSpPr>
        <p:spPr>
          <a:xfrm>
            <a:off x="7466257" y="5938391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74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 err="1"/>
              <a:t>AvianMesh</a:t>
            </a:r>
            <a:r>
              <a:rPr lang="en-US" sz="3600" dirty="0"/>
              <a:t>: </a:t>
            </a:r>
          </a:p>
          <a:p>
            <a:pPr marL="971550" lvl="1" indent="-514350">
              <a:buBlip>
                <a:blip r:embed="rId2"/>
              </a:buBlip>
            </a:pPr>
            <a:r>
              <a:rPr lang="en-US" sz="3200" dirty="0"/>
              <a:t>Issues with </a:t>
            </a:r>
            <a:r>
              <a:rPr lang="en-US" sz="3200" b="1" dirty="0"/>
              <a:t>temporal dimension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600" dirty="0"/>
              <a:t>LASR:</a:t>
            </a:r>
          </a:p>
          <a:p>
            <a:pPr marL="971550" lvl="1" indent="-514350">
              <a:buBlip>
                <a:blip r:embed="rId2"/>
              </a:buBlip>
            </a:pPr>
            <a:r>
              <a:rPr lang="en-US" sz="3200" dirty="0"/>
              <a:t>Depends on </a:t>
            </a:r>
            <a:r>
              <a:rPr lang="en-US" sz="3200" b="1" dirty="0"/>
              <a:t>textures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868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Blip>
                <a:blip r:embed="rId2"/>
              </a:buBlip>
            </a:pPr>
            <a:r>
              <a:rPr lang="en-US" sz="4000" dirty="0"/>
              <a:t>Susceptible to fish overlap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32004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Limitations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Grafik 5" descr="Ein Bild, das Schwarzweiß, Fenster, Aquarium, Im Haus enthält.&#10;&#10;Automatisch generierte Beschreibung">
            <a:extLst>
              <a:ext uri="{FF2B5EF4-FFF2-40B4-BE49-F238E27FC236}">
                <a16:creationId xmlns:a16="http://schemas.microsoft.com/office/drawing/2014/main" id="{E0A0C0CF-568F-413C-BDE2-CB4C3D3818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11" t="34000" r="4232" b="36823"/>
          <a:stretch/>
        </p:blipFill>
        <p:spPr>
          <a:xfrm>
            <a:off x="838200" y="3114000"/>
            <a:ext cx="6677419" cy="2250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125E277-1928-70D5-14EB-1BC2C5BBD055}"/>
              </a:ext>
            </a:extLst>
          </p:cNvPr>
          <p:cNvSpPr txBox="1"/>
          <p:nvPr/>
        </p:nvSpPr>
        <p:spPr>
          <a:xfrm>
            <a:off x="6795602" y="5774180"/>
            <a:ext cx="456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Image by 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520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Must view it in context of research goals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Created out of necessity since other approaches not suitable for fish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r>
              <a:rPr lang="en-US" sz="3200" dirty="0"/>
              <a:t>Very special testing conditions:</a:t>
            </a:r>
          </a:p>
          <a:p>
            <a:pPr marL="971550" lvl="1" indent="-514350">
              <a:buFont typeface="Symbol" panose="05050102010706020507" pitchFamily="18" charset="2"/>
              <a:buChar char="-"/>
            </a:pPr>
            <a:r>
              <a:rPr lang="en-US" sz="2800" dirty="0"/>
              <a:t>In one particular environment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43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40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Own </a:t>
            </a:r>
            <a:r>
              <a:rPr lang="de-DE" dirty="0" err="1"/>
              <a:t>thoughts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37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2AF3D12-0472-4055-A434-10FF6CD98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201" y="464708"/>
            <a:ext cx="8891598" cy="925789"/>
          </a:xfrm>
          <a:solidFill>
            <a:srgbClr val="59C7EB"/>
          </a:solidFill>
        </p:spPr>
        <p:txBody>
          <a:bodyPr>
            <a:normAutofit fontScale="90000"/>
          </a:bodyPr>
          <a:lstStyle/>
          <a:p>
            <a:pPr>
              <a:tabLst>
                <a:tab pos="266700" algn="l"/>
              </a:tabLst>
            </a:pPr>
            <a:r>
              <a:rPr lang="en-HK" b="1" dirty="0"/>
              <a:t>Thanks for your attention!</a:t>
            </a:r>
            <a:endParaRPr lang="en-DE" b="1" dirty="0"/>
          </a:p>
        </p:txBody>
      </p:sp>
      <p:pic>
        <p:nvPicPr>
          <p:cNvPr id="2" name="Inhaltsplatzhalter 14" descr="Ein Bild, das Cartoon, Animierter Cartoon, Darstellung, Zeichnung enthält.&#10;&#10;Automatisch generierte Beschreibung">
            <a:extLst>
              <a:ext uri="{FF2B5EF4-FFF2-40B4-BE49-F238E27FC236}">
                <a16:creationId xmlns:a16="http://schemas.microsoft.com/office/drawing/2014/main" id="{C9D40E80-B99B-0A10-B6BA-6C8613770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75" y="1809000"/>
            <a:ext cx="7477050" cy="4202938"/>
          </a:xfrm>
          <a:prstGeom prst="rect">
            <a:avLst/>
          </a:prstGeom>
        </p:spPr>
      </p:pic>
      <p:pic>
        <p:nvPicPr>
          <p:cNvPr id="3" name="Grafik 2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666E94F6-DC62-026E-4E30-40BFF4D5508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10" t="30254" r="5279" b="16648"/>
          <a:stretch/>
        </p:blipFill>
        <p:spPr>
          <a:xfrm>
            <a:off x="5196000" y="1909423"/>
            <a:ext cx="1845000" cy="1315065"/>
          </a:xfrm>
          <a:prstGeom prst="ellipse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9487FE1-B168-B21E-EA4B-A5CD0CFF8E76}"/>
              </a:ext>
            </a:extLst>
          </p:cNvPr>
          <p:cNvSpPr/>
          <p:nvPr/>
        </p:nvSpPr>
        <p:spPr>
          <a:xfrm rot="16200000">
            <a:off x="6219034" y="2771672"/>
            <a:ext cx="968932" cy="2385000"/>
          </a:xfrm>
          <a:prstGeom prst="rect">
            <a:avLst/>
          </a:prstGeom>
          <a:solidFill>
            <a:srgbClr val="ECC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816AAE0-A962-2F5B-2756-27908080209C}"/>
              </a:ext>
            </a:extLst>
          </p:cNvPr>
          <p:cNvSpPr/>
          <p:nvPr/>
        </p:nvSpPr>
        <p:spPr>
          <a:xfrm rot="16200000">
            <a:off x="7790518" y="2233503"/>
            <a:ext cx="968932" cy="2385000"/>
          </a:xfrm>
          <a:prstGeom prst="rect">
            <a:avLst/>
          </a:prstGeom>
          <a:solidFill>
            <a:srgbClr val="ECC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4AFD4CCC-7883-2BBE-905F-AB79003667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2125" b="81500" l="65196" r="84510">
                        <a14:foregroundMark x1="65539" y1="75000" x2="65539" y2="75000"/>
                        <a14:foregroundMark x1="73971" y1="75750" x2="79804" y2="71500"/>
                        <a14:foregroundMark x1="80833" y1="71500" x2="81961" y2="75625"/>
                        <a14:foregroundMark x1="80000" y1="68625" x2="84118" y2="65625"/>
                        <a14:foregroundMark x1="81373" y1="69750" x2="83284" y2="66125"/>
                        <a14:foregroundMark x1="84412" y1="62125" x2="84412" y2="62125"/>
                        <a14:foregroundMark x1="84510" y1="62750" x2="84412" y2="63750"/>
                        <a14:foregroundMark x1="81667" y1="76375" x2="82500" y2="78250"/>
                        <a14:foregroundMark x1="82010" y1="74125" x2="83725" y2="78000"/>
                        <a14:foregroundMark x1="65196" y1="74875" x2="65196" y2="74875"/>
                        <a14:foregroundMark x1="76471" y1="78500" x2="76471" y2="78500"/>
                        <a14:foregroundMark x1="76422" y1="79125" x2="76422" y2="79125"/>
                        <a14:foregroundMark x1="72402" y1="80250" x2="72402" y2="80250"/>
                        <a14:foregroundMark x1="74853" y1="80250" x2="74853" y2="80250"/>
                        <a14:foregroundMark x1="76863" y1="79000" x2="76863" y2="79000"/>
                        <a14:foregroundMark x1="77206" y1="78250" x2="77206" y2="78250"/>
                        <a14:backgroundMark x1="79510" y1="77000" x2="79510" y2="77000"/>
                        <a14:backgroundMark x1="79804" y1="77500" x2="79804" y2="77500"/>
                        <a14:backgroundMark x1="79706" y1="77375" x2="79706" y2="77375"/>
                        <a14:backgroundMark x1="79902" y1="77250" x2="79657" y2="7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753" t="59753" r="14139" b="15992"/>
          <a:stretch/>
        </p:blipFill>
        <p:spPr>
          <a:xfrm rot="10282216">
            <a:off x="4780443" y="3485949"/>
            <a:ext cx="3870000" cy="1665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91D5A79-977A-DF67-9482-B19AFB920655}"/>
              </a:ext>
            </a:extLst>
          </p:cNvPr>
          <p:cNvSpPr txBox="1"/>
          <p:nvPr/>
        </p:nvSpPr>
        <p:spPr>
          <a:xfrm>
            <a:off x="1506000" y="626715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Tom and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: SWR /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Hykade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B8263BF-7854-D44D-1F6F-26D65D986B36}"/>
              </a:ext>
            </a:extLst>
          </p:cNvPr>
          <p:cNvSpPr txBox="1"/>
          <p:nvPr/>
        </p:nvSpPr>
        <p:spPr>
          <a:xfrm>
            <a:off x="3035488" y="6574932"/>
            <a:ext cx="456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Image of fish by [R. Wu, O.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L. Li]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9665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dirty="0"/>
              <a:t>Wu, </a:t>
            </a:r>
            <a:r>
              <a:rPr lang="de-DE" sz="1800" dirty="0" err="1"/>
              <a:t>Ruiheng</a:t>
            </a:r>
            <a:r>
              <a:rPr lang="de-DE" sz="1800" dirty="0"/>
              <a:t> and Deussen, Oliver and Li, Liang. "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DeepShapeKit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accurate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4D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shape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reconstruction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swimming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fish</a:t>
            </a:r>
            <a:r>
              <a:rPr lang="de-DE" sz="1800" dirty="0"/>
              <a:t>." </a:t>
            </a:r>
            <a:r>
              <a:rPr lang="de-DE" sz="1800" i="1" dirty="0"/>
              <a:t>2022 IEEE/RSJ International Conference on Intelligent Robots and Systems (IROS)</a:t>
            </a:r>
            <a:r>
              <a:rPr lang="de-DE" sz="1800" dirty="0"/>
              <a:t>. IEEE, 2022.</a:t>
            </a:r>
          </a:p>
          <a:p>
            <a:pPr marL="0" indent="0">
              <a:buNone/>
            </a:pPr>
            <a:r>
              <a:rPr lang="de-DE" sz="1800" dirty="0"/>
              <a:t>Mathis, A. and </a:t>
            </a:r>
            <a:r>
              <a:rPr lang="de-DE" sz="1800" dirty="0" err="1"/>
              <a:t>Mamidanna</a:t>
            </a:r>
            <a:r>
              <a:rPr lang="de-DE" sz="1800" dirty="0"/>
              <a:t>, P. and </a:t>
            </a:r>
            <a:r>
              <a:rPr lang="de-DE" sz="1800" dirty="0" err="1"/>
              <a:t>Cury</a:t>
            </a:r>
            <a:r>
              <a:rPr lang="de-DE" sz="1800" dirty="0"/>
              <a:t>, K.M. </a:t>
            </a:r>
            <a:r>
              <a:rPr lang="de-DE" sz="1800" i="1" dirty="0"/>
              <a:t>et al.</a:t>
            </a:r>
            <a:r>
              <a:rPr lang="de-DE" sz="1800" dirty="0"/>
              <a:t> </a:t>
            </a:r>
            <a:r>
              <a:rPr lang="de-DE" sz="1800" dirty="0" err="1"/>
              <a:t>DeepLabCut</a:t>
            </a:r>
            <a:r>
              <a:rPr lang="de-DE" sz="1800" dirty="0"/>
              <a:t>: </a:t>
            </a:r>
            <a:r>
              <a:rPr lang="de-DE" sz="1800" dirty="0" err="1"/>
              <a:t>markerless</a:t>
            </a:r>
            <a:r>
              <a:rPr lang="de-DE" sz="1800" dirty="0"/>
              <a:t> </a:t>
            </a:r>
            <a:r>
              <a:rPr lang="de-DE" sz="1800" dirty="0" err="1"/>
              <a:t>pose</a:t>
            </a:r>
            <a:r>
              <a:rPr lang="de-DE" sz="1800" dirty="0"/>
              <a:t> </a:t>
            </a:r>
            <a:r>
              <a:rPr lang="de-DE" sz="1800" dirty="0" err="1"/>
              <a:t>estimation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user-</a:t>
            </a:r>
            <a:r>
              <a:rPr lang="de-DE" sz="1800" dirty="0" err="1"/>
              <a:t>defined</a:t>
            </a:r>
            <a:r>
              <a:rPr lang="de-DE" sz="1800" dirty="0"/>
              <a:t> </a:t>
            </a:r>
            <a:r>
              <a:rPr lang="de-DE" sz="1800" dirty="0" err="1"/>
              <a:t>body</a:t>
            </a:r>
            <a:r>
              <a:rPr lang="de-DE" sz="1800" dirty="0"/>
              <a:t> </a:t>
            </a:r>
            <a:r>
              <a:rPr lang="de-DE" sz="1800" dirty="0" err="1"/>
              <a:t>parts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deep</a:t>
            </a:r>
            <a:r>
              <a:rPr lang="de-DE" sz="1800" dirty="0"/>
              <a:t> </a:t>
            </a:r>
            <a:r>
              <a:rPr lang="de-DE" sz="1800" dirty="0" err="1"/>
              <a:t>learning</a:t>
            </a:r>
            <a:r>
              <a:rPr lang="de-DE" sz="1800" dirty="0"/>
              <a:t>. </a:t>
            </a:r>
            <a:r>
              <a:rPr lang="de-DE" sz="1800" i="1" dirty="0"/>
              <a:t>Nat </a:t>
            </a:r>
            <a:r>
              <a:rPr lang="de-DE" sz="1800" i="1" dirty="0" err="1"/>
              <a:t>Neurosci</a:t>
            </a:r>
            <a:r>
              <a:rPr lang="de-DE" sz="1800" dirty="0"/>
              <a:t> 21, 1281–1289 (2018). https://doi.org/10.1038/s41593-018-0209-y</a:t>
            </a:r>
          </a:p>
          <a:p>
            <a:pPr marL="0" indent="0">
              <a:buNone/>
            </a:pPr>
            <a:r>
              <a:rPr lang="de-DE" sz="1800" dirty="0" err="1"/>
              <a:t>Badger</a:t>
            </a:r>
            <a:r>
              <a:rPr lang="de-DE" sz="1800" dirty="0"/>
              <a:t>, M. and Wang, Y. and </a:t>
            </a:r>
            <a:r>
              <a:rPr lang="de-DE" sz="1800" dirty="0" err="1"/>
              <a:t>Modh</a:t>
            </a:r>
            <a:r>
              <a:rPr lang="de-DE" sz="1800" dirty="0"/>
              <a:t>, A. and </a:t>
            </a:r>
            <a:r>
              <a:rPr lang="de-DE" sz="1800" dirty="0" err="1"/>
              <a:t>Perkes</a:t>
            </a:r>
            <a:r>
              <a:rPr lang="de-DE" sz="1800" dirty="0"/>
              <a:t>, A. and </a:t>
            </a:r>
            <a:r>
              <a:rPr lang="de-DE" sz="1800" dirty="0" err="1"/>
              <a:t>Kolotouros</a:t>
            </a:r>
            <a:r>
              <a:rPr lang="de-DE" sz="1800" dirty="0"/>
              <a:t>, N. and Pfrommer, B. G. and Schmidt, M. F. and </a:t>
            </a:r>
            <a:r>
              <a:rPr lang="de-DE" sz="1800" dirty="0" err="1"/>
              <a:t>Daniilidis</a:t>
            </a:r>
            <a:r>
              <a:rPr lang="de-DE" sz="1800" dirty="0"/>
              <a:t>, K. “3D Bird Reconstruction: a Dataset, Model, and Shape Recovery </a:t>
            </a:r>
            <a:r>
              <a:rPr lang="de-DE" sz="1800" dirty="0" err="1"/>
              <a:t>from</a:t>
            </a:r>
            <a:r>
              <a:rPr lang="de-DE" sz="1800" dirty="0"/>
              <a:t> a Single View,” 2020</a:t>
            </a:r>
          </a:p>
          <a:p>
            <a:pPr marL="0" indent="0">
              <a:buNone/>
            </a:pPr>
            <a:r>
              <a:rPr lang="en-US" sz="1800" dirty="0"/>
              <a:t>He, K. and </a:t>
            </a:r>
            <a:r>
              <a:rPr lang="en-US" sz="1800" dirty="0" err="1"/>
              <a:t>Gkioxari</a:t>
            </a:r>
            <a:r>
              <a:rPr lang="en-US" sz="1800" dirty="0"/>
              <a:t>, G. and </a:t>
            </a:r>
            <a:r>
              <a:rPr lang="en-US" sz="1800" dirty="0" err="1"/>
              <a:t>Dollár</a:t>
            </a:r>
            <a:r>
              <a:rPr lang="en-US" sz="1800" dirty="0"/>
              <a:t>, P. and </a:t>
            </a:r>
            <a:r>
              <a:rPr lang="en-US" sz="1800" dirty="0" err="1"/>
              <a:t>Girshick</a:t>
            </a:r>
            <a:r>
              <a:rPr lang="en-US" sz="1800" dirty="0"/>
              <a:t>, R. “Mask R-CNN.” In </a:t>
            </a:r>
            <a:r>
              <a:rPr lang="en-US" sz="1800" i="1" dirty="0"/>
              <a:t>Proceedings of the IEEE international conference on computer vision</a:t>
            </a:r>
            <a:r>
              <a:rPr lang="en-US" sz="1800" dirty="0"/>
              <a:t>, 2017.</a:t>
            </a:r>
            <a:endParaRPr lang="en-US" sz="1800" i="1" dirty="0"/>
          </a:p>
          <a:p>
            <a:pPr marL="0" indent="0">
              <a:buNone/>
            </a:pPr>
            <a:r>
              <a:rPr lang="de-DE" sz="1800" dirty="0"/>
              <a:t>Yang, G. and Sun, D. and </a:t>
            </a:r>
            <a:r>
              <a:rPr lang="de-DE" sz="1800" dirty="0" err="1"/>
              <a:t>Jampani</a:t>
            </a:r>
            <a:r>
              <a:rPr lang="de-DE" sz="1800" dirty="0"/>
              <a:t>, V. and Vlasic, D. and Cole, F. and Chang, H. and </a:t>
            </a:r>
            <a:r>
              <a:rPr lang="de-DE" sz="1800" dirty="0" err="1"/>
              <a:t>Ramanan</a:t>
            </a:r>
            <a:r>
              <a:rPr lang="de-DE" sz="1800" dirty="0"/>
              <a:t>, D. and Freeman, W. T. and Liu, C. “LASR: Learning </a:t>
            </a:r>
            <a:r>
              <a:rPr lang="de-DE" sz="1800" dirty="0" err="1"/>
              <a:t>Articulated</a:t>
            </a:r>
            <a:r>
              <a:rPr lang="de-DE" sz="1800" dirty="0"/>
              <a:t> Shape Reconstruction </a:t>
            </a:r>
            <a:r>
              <a:rPr lang="de-DE" sz="1800" dirty="0" err="1"/>
              <a:t>From</a:t>
            </a:r>
            <a:r>
              <a:rPr lang="de-DE" sz="1800" dirty="0"/>
              <a:t> a </a:t>
            </a:r>
            <a:r>
              <a:rPr lang="de-DE" sz="1800" dirty="0" err="1"/>
              <a:t>Monocular</a:t>
            </a:r>
            <a:r>
              <a:rPr lang="de-DE" sz="1800" dirty="0"/>
              <a:t> Video,”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IEEE/CVF Conference on Computer Vision and Pattern Recognition (CVPR), 6 2021, pp. 15 980–15 989.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0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weiß, Aquarium, Fenster, monochrom enthält.&#10;&#10;Automatisch generierte Beschreibung">
            <a:extLst>
              <a:ext uri="{FF2B5EF4-FFF2-40B4-BE49-F238E27FC236}">
                <a16:creationId xmlns:a16="http://schemas.microsoft.com/office/drawing/2014/main" id="{15CECE43-C4D4-8B61-AA1B-45EF48B51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-32" r="6307" b="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150" y="3365702"/>
            <a:ext cx="2416925" cy="714374"/>
          </a:xfrm>
          <a:solidFill>
            <a:srgbClr val="4EBCE0"/>
          </a:solidFill>
        </p:spPr>
        <p:txBody>
          <a:bodyPr>
            <a:noAutofit/>
          </a:bodyPr>
          <a:lstStyle/>
          <a:p>
            <a:pPr algn="l"/>
            <a:r>
              <a:rPr lang="en-US" sz="4400" b="1" dirty="0"/>
              <a:t>Seminar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74" y="4311852"/>
            <a:ext cx="8537575" cy="433388"/>
          </a:xfrm>
        </p:spPr>
        <p:txBody>
          <a:bodyPr>
            <a:noAutofit/>
          </a:bodyPr>
          <a:lstStyle/>
          <a:p>
            <a:pPr algn="l"/>
            <a:r>
              <a:rPr lang="de-DE" sz="2800" b="1" dirty="0">
                <a:solidFill>
                  <a:schemeClr val="bg1"/>
                </a:solidFill>
              </a:rPr>
              <a:t>Jonathan Häßler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33750" y="-1403350"/>
            <a:ext cx="565150" cy="457200"/>
          </a:xfrm>
          <a:prstGeom prst="rect">
            <a:avLst/>
          </a:prstGeom>
          <a:solidFill>
            <a:srgbClr val="92C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16400" y="-1435100"/>
            <a:ext cx="615950" cy="508000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11750" y="-1403350"/>
            <a:ext cx="781050" cy="5461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t="34722"/>
          <a:stretch/>
        </p:blipFill>
        <p:spPr>
          <a:xfrm>
            <a:off x="2908300" y="-1016000"/>
            <a:ext cx="3575050" cy="89535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81000" y="2641800"/>
            <a:ext cx="5225250" cy="714374"/>
          </a:xfrm>
          <a:prstGeom prst="rect">
            <a:avLst/>
          </a:prstGeom>
          <a:solidFill>
            <a:srgbClr val="92CDE0">
              <a:alpha val="64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4800" b="1" dirty="0"/>
              <a:t>of swimming fish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40" y="4900816"/>
            <a:ext cx="6188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Computing,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Konstanz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C8608F-FB7D-791D-B3E5-2DABEF18195C}"/>
              </a:ext>
            </a:extLst>
          </p:cNvPr>
          <p:cNvSpPr txBox="1"/>
          <p:nvPr/>
        </p:nvSpPr>
        <p:spPr>
          <a:xfrm>
            <a:off x="7491000" y="5700918"/>
            <a:ext cx="39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36BE971-2679-5964-C53E-5EC45F9E900F}"/>
              </a:ext>
            </a:extLst>
          </p:cNvPr>
          <p:cNvSpPr txBox="1"/>
          <p:nvPr/>
        </p:nvSpPr>
        <p:spPr>
          <a:xfrm>
            <a:off x="381000" y="1089000"/>
            <a:ext cx="4546600" cy="830997"/>
          </a:xfrm>
          <a:prstGeom prst="rect">
            <a:avLst/>
          </a:prstGeom>
          <a:solidFill>
            <a:srgbClr val="B9DFEB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DeepShapeKit:</a:t>
            </a:r>
            <a:endParaRPr lang="de-DE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F64AFA-54AB-DB3B-3A91-32E508934F6C}"/>
              </a:ext>
            </a:extLst>
          </p:cNvPr>
          <p:cNvSpPr txBox="1"/>
          <p:nvPr/>
        </p:nvSpPr>
        <p:spPr>
          <a:xfrm>
            <a:off x="380999" y="1840541"/>
            <a:ext cx="10036147" cy="830997"/>
          </a:xfrm>
          <a:prstGeom prst="rect">
            <a:avLst/>
          </a:prstGeom>
          <a:solidFill>
            <a:srgbClr val="B9DFEB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accurate 4D shape</a:t>
            </a:r>
            <a:r>
              <a:rPr lang="en-US" sz="4800" b="1" dirty="0"/>
              <a:t>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reconstruction </a:t>
            </a:r>
            <a:endParaRPr lang="de-DE" sz="4800" dirty="0"/>
          </a:p>
        </p:txBody>
      </p:sp>
    </p:spTree>
    <p:extLst>
      <p:ext uri="{BB962C8B-B14F-4D97-AF65-F5344CB8AC3E}">
        <p14:creationId xmlns:p14="http://schemas.microsoft.com/office/powerpoint/2010/main" val="2313947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fik 37">
            <a:extLst>
              <a:ext uri="{FF2B5EF4-FFF2-40B4-BE49-F238E27FC236}">
                <a16:creationId xmlns:a16="http://schemas.microsoft.com/office/drawing/2014/main" id="{002738CC-63D2-142A-AE22-0FB622DC8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02" t="49031" r="58654" b="41967"/>
          <a:stretch/>
        </p:blipFill>
        <p:spPr>
          <a:xfrm>
            <a:off x="7193369" y="3756179"/>
            <a:ext cx="455826" cy="42801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47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5E32FAF-AFCC-551F-8ABD-E640AF250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51" b="71837"/>
          <a:stretch/>
        </p:blipFill>
        <p:spPr>
          <a:xfrm>
            <a:off x="2446785" y="2130357"/>
            <a:ext cx="7298430" cy="66148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AE7ABD-5B29-B214-88A6-8B5EA8E22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4"/>
            <a:ext cx="10515600" cy="4698359"/>
          </a:xfrm>
        </p:spPr>
        <p:txBody>
          <a:bodyPr/>
          <a:lstStyle/>
          <a:p>
            <a:pPr algn="ctr"/>
            <a:r>
              <a:rPr lang="en-US" sz="4000" dirty="0"/>
              <a:t>What’s a good fit?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6AF7C4-EA19-13A7-EA94-472BF5A1056A}"/>
              </a:ext>
            </a:extLst>
          </p:cNvPr>
          <p:cNvSpPr txBox="1">
            <a:spLocks/>
          </p:cNvSpPr>
          <p:nvPr/>
        </p:nvSpPr>
        <p:spPr>
          <a:xfrm>
            <a:off x="155937" y="2934578"/>
            <a:ext cx="2923161" cy="32423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Minimize distance of </a:t>
            </a:r>
            <a:r>
              <a:rPr lang="en-US" sz="2000" b="1" dirty="0"/>
              <a:t>head joints</a:t>
            </a:r>
          </a:p>
          <a:p>
            <a:r>
              <a:rPr lang="en-US" sz="2000" dirty="0"/>
              <a:t>Minimize difference of </a:t>
            </a:r>
            <a:r>
              <a:rPr lang="en-US" sz="2000" b="1" dirty="0"/>
              <a:t>tail joints</a:t>
            </a:r>
          </a:p>
          <a:p>
            <a:r>
              <a:rPr lang="en-US" sz="2000" dirty="0"/>
              <a:t>Minimize difference of </a:t>
            </a:r>
            <a:r>
              <a:rPr lang="en-US" sz="2000" b="1" dirty="0"/>
              <a:t>silhouettes</a:t>
            </a:r>
          </a:p>
          <a:p>
            <a:r>
              <a:rPr lang="en-US" sz="2000" dirty="0"/>
              <a:t>Minimize </a:t>
            </a:r>
            <a:r>
              <a:rPr lang="en-US" sz="2000" b="1" dirty="0"/>
              <a:t>difference to last result</a:t>
            </a:r>
          </a:p>
          <a:p>
            <a:r>
              <a:rPr lang="en-US" sz="2000" dirty="0"/>
              <a:t>Optimization </a:t>
            </a:r>
            <a:r>
              <a:rPr lang="en-US" sz="2000" b="1" dirty="0"/>
              <a:t>parameters</a:t>
            </a:r>
          </a:p>
          <a:p>
            <a:pPr marL="514350" indent="-514350">
              <a:buFont typeface="Symbol" panose="05050102010706020507" pitchFamily="18" charset="2"/>
              <a:buChar char="-"/>
            </a:pPr>
            <a:endParaRPr lang="en-US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AA7A42C-9337-2137-4ED1-F7592382E119}"/>
              </a:ext>
            </a:extLst>
          </p:cNvPr>
          <p:cNvSpPr/>
          <p:nvPr/>
        </p:nvSpPr>
        <p:spPr>
          <a:xfrm>
            <a:off x="2057678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875F863-7684-A5A1-9C63-808940775DAE}"/>
              </a:ext>
            </a:extLst>
          </p:cNvPr>
          <p:cNvSpPr/>
          <p:nvPr/>
        </p:nvSpPr>
        <p:spPr>
          <a:xfrm>
            <a:off x="4982461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C82A15E-D679-6E57-B003-DE3022F23F7C}"/>
              </a:ext>
            </a:extLst>
          </p:cNvPr>
          <p:cNvSpPr/>
          <p:nvPr/>
        </p:nvSpPr>
        <p:spPr>
          <a:xfrm>
            <a:off x="7466257" y="2140085"/>
            <a:ext cx="583660" cy="5836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B1ADE6A-35FD-71DB-61B6-2DC388C476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02" t="49031" r="58654" b="41967"/>
          <a:stretch/>
        </p:blipFill>
        <p:spPr>
          <a:xfrm>
            <a:off x="4921681" y="3756179"/>
            <a:ext cx="455826" cy="428018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F303CCA-99D6-438E-DD50-E85DB687A6D6}"/>
              </a:ext>
            </a:extLst>
          </p:cNvPr>
          <p:cNvCxnSpPr>
            <a:cxnSpLocks/>
          </p:cNvCxnSpPr>
          <p:nvPr/>
        </p:nvCxnSpPr>
        <p:spPr>
          <a:xfrm>
            <a:off x="235670" y="2865748"/>
            <a:ext cx="950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BC65092-BD26-1F83-8C0B-FD5AE6071C6A}"/>
              </a:ext>
            </a:extLst>
          </p:cNvPr>
          <p:cNvCxnSpPr>
            <a:cxnSpLocks/>
          </p:cNvCxnSpPr>
          <p:nvPr/>
        </p:nvCxnSpPr>
        <p:spPr>
          <a:xfrm>
            <a:off x="5207523" y="2865748"/>
            <a:ext cx="0" cy="3324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91A76FD-767A-3330-B809-27164146B8A1}"/>
              </a:ext>
            </a:extLst>
          </p:cNvPr>
          <p:cNvCxnSpPr>
            <a:cxnSpLocks/>
          </p:cNvCxnSpPr>
          <p:nvPr/>
        </p:nvCxnSpPr>
        <p:spPr>
          <a:xfrm>
            <a:off x="7466257" y="2865748"/>
            <a:ext cx="0" cy="3311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FE69FF9-7418-FE28-21FB-3E890D4EB732}"/>
              </a:ext>
            </a:extLst>
          </p:cNvPr>
          <p:cNvCxnSpPr>
            <a:cxnSpLocks/>
          </p:cNvCxnSpPr>
          <p:nvPr/>
        </p:nvCxnSpPr>
        <p:spPr>
          <a:xfrm>
            <a:off x="253832" y="3527290"/>
            <a:ext cx="950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64482F3-1A3E-A44F-597A-C27ED2C4F442}"/>
              </a:ext>
            </a:extLst>
          </p:cNvPr>
          <p:cNvCxnSpPr>
            <a:cxnSpLocks/>
          </p:cNvCxnSpPr>
          <p:nvPr/>
        </p:nvCxnSpPr>
        <p:spPr>
          <a:xfrm>
            <a:off x="235670" y="4145471"/>
            <a:ext cx="950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E852005-162A-2705-5449-776A4E14DB8E}"/>
              </a:ext>
            </a:extLst>
          </p:cNvPr>
          <p:cNvCxnSpPr>
            <a:cxnSpLocks/>
          </p:cNvCxnSpPr>
          <p:nvPr/>
        </p:nvCxnSpPr>
        <p:spPr>
          <a:xfrm>
            <a:off x="253832" y="4734000"/>
            <a:ext cx="950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D5FEE85D-A80B-A4E2-0D50-522DB9F9021A}"/>
              </a:ext>
            </a:extLst>
          </p:cNvPr>
          <p:cNvCxnSpPr>
            <a:cxnSpLocks/>
          </p:cNvCxnSpPr>
          <p:nvPr/>
        </p:nvCxnSpPr>
        <p:spPr>
          <a:xfrm>
            <a:off x="253832" y="5364000"/>
            <a:ext cx="950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fik 41" descr="Häkchen mit einfarbiger Füllung">
            <a:extLst>
              <a:ext uri="{FF2B5EF4-FFF2-40B4-BE49-F238E27FC236}">
                <a16:creationId xmlns:a16="http://schemas.microsoft.com/office/drawing/2014/main" id="{485E61F7-E82A-5DAD-1E86-45854B6B9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2546" y="2971225"/>
            <a:ext cx="556065" cy="556065"/>
          </a:xfrm>
          <a:prstGeom prst="rect">
            <a:avLst/>
          </a:prstGeom>
        </p:spPr>
      </p:pic>
      <p:pic>
        <p:nvPicPr>
          <p:cNvPr id="43" name="Grafik 42" descr="Häkchen mit einfarbiger Füllung">
            <a:extLst>
              <a:ext uri="{FF2B5EF4-FFF2-40B4-BE49-F238E27FC236}">
                <a16:creationId xmlns:a16="http://schemas.microsoft.com/office/drawing/2014/main" id="{046A18C8-D788-A129-2774-89FFF0555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2545" y="3564249"/>
            <a:ext cx="556065" cy="556065"/>
          </a:xfrm>
          <a:prstGeom prst="rect">
            <a:avLst/>
          </a:prstGeom>
        </p:spPr>
      </p:pic>
      <p:pic>
        <p:nvPicPr>
          <p:cNvPr id="44" name="Grafik 43" descr="Häkchen mit einfarbiger Füllung">
            <a:extLst>
              <a:ext uri="{FF2B5EF4-FFF2-40B4-BE49-F238E27FC236}">
                <a16:creationId xmlns:a16="http://schemas.microsoft.com/office/drawing/2014/main" id="{6B71B57B-CBCF-3467-6E9B-A8F1F6DA2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807" y="4152984"/>
            <a:ext cx="556065" cy="556065"/>
          </a:xfrm>
          <a:prstGeom prst="rect">
            <a:avLst/>
          </a:prstGeom>
        </p:spPr>
      </p:pic>
      <p:pic>
        <p:nvPicPr>
          <p:cNvPr id="45" name="Grafik 44" descr="Häkchen mit einfarbiger Füllung">
            <a:extLst>
              <a:ext uri="{FF2B5EF4-FFF2-40B4-BE49-F238E27FC236}">
                <a16:creationId xmlns:a16="http://schemas.microsoft.com/office/drawing/2014/main" id="{47B6F71D-9012-FD03-BC5F-02268BB66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279" y="2971224"/>
            <a:ext cx="556065" cy="556065"/>
          </a:xfrm>
          <a:prstGeom prst="rect">
            <a:avLst/>
          </a:prstGeom>
        </p:spPr>
      </p:pic>
      <p:pic>
        <p:nvPicPr>
          <p:cNvPr id="46" name="Grafik 45" descr="Häkchen mit einfarbiger Füllung">
            <a:extLst>
              <a:ext uri="{FF2B5EF4-FFF2-40B4-BE49-F238E27FC236}">
                <a16:creationId xmlns:a16="http://schemas.microsoft.com/office/drawing/2014/main" id="{4AEC6766-92B9-089A-16CC-5381CE9BA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3563" y="3563911"/>
            <a:ext cx="556065" cy="556065"/>
          </a:xfrm>
          <a:prstGeom prst="rect">
            <a:avLst/>
          </a:prstGeom>
        </p:spPr>
      </p:pic>
      <p:pic>
        <p:nvPicPr>
          <p:cNvPr id="47" name="Grafik 46" descr="Häkchen mit einfarbiger Füllung">
            <a:extLst>
              <a:ext uri="{FF2B5EF4-FFF2-40B4-BE49-F238E27FC236}">
                <a16:creationId xmlns:a16="http://schemas.microsoft.com/office/drawing/2014/main" id="{F8A07255-9E27-0E64-8000-64CF5471F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3562" y="4173174"/>
            <a:ext cx="556065" cy="556065"/>
          </a:xfrm>
          <a:prstGeom prst="rect">
            <a:avLst/>
          </a:prstGeom>
        </p:spPr>
      </p:pic>
      <p:pic>
        <p:nvPicPr>
          <p:cNvPr id="48" name="Grafik 47" descr="Häkchen mit einfarbiger Füllung">
            <a:extLst>
              <a:ext uri="{FF2B5EF4-FFF2-40B4-BE49-F238E27FC236}">
                <a16:creationId xmlns:a16="http://schemas.microsoft.com/office/drawing/2014/main" id="{2CA52A54-53EB-306F-847E-D1AA8A5B8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7586" y="2948316"/>
            <a:ext cx="556065" cy="556065"/>
          </a:xfrm>
          <a:prstGeom prst="rect">
            <a:avLst/>
          </a:prstGeom>
        </p:spPr>
      </p:pic>
      <p:pic>
        <p:nvPicPr>
          <p:cNvPr id="50" name="Grafik 49" descr="Häkchen mit einfarbiger Füllung">
            <a:extLst>
              <a:ext uri="{FF2B5EF4-FFF2-40B4-BE49-F238E27FC236}">
                <a16:creationId xmlns:a16="http://schemas.microsoft.com/office/drawing/2014/main" id="{BD9C7501-5B2B-E7AF-F04D-259B7E722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279" y="4771287"/>
            <a:ext cx="556065" cy="556065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CEFC44BA-F451-D8F8-52AC-222A0C4325D0}"/>
              </a:ext>
            </a:extLst>
          </p:cNvPr>
          <p:cNvSpPr txBox="1"/>
          <p:nvPr/>
        </p:nvSpPr>
        <p:spPr>
          <a:xfrm>
            <a:off x="3014081" y="5369059"/>
            <a:ext cx="2337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Location, </a:t>
            </a:r>
          </a:p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Global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D796FC43-EA55-8968-7E59-6E84473C7ED2}"/>
              </a:ext>
            </a:extLst>
          </p:cNvPr>
          <p:cNvCxnSpPr>
            <a:cxnSpLocks/>
          </p:cNvCxnSpPr>
          <p:nvPr/>
        </p:nvCxnSpPr>
        <p:spPr>
          <a:xfrm>
            <a:off x="2869676" y="2865748"/>
            <a:ext cx="0" cy="3324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feld 105">
            <a:extLst>
              <a:ext uri="{FF2B5EF4-FFF2-40B4-BE49-F238E27FC236}">
                <a16:creationId xmlns:a16="http://schemas.microsoft.com/office/drawing/2014/main" id="{D1A13F32-1FBC-79A9-3889-2BA5E24DC753}"/>
              </a:ext>
            </a:extLst>
          </p:cNvPr>
          <p:cNvSpPr txBox="1"/>
          <p:nvPr/>
        </p:nvSpPr>
        <p:spPr>
          <a:xfrm>
            <a:off x="5207523" y="5368401"/>
            <a:ext cx="225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Global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Head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endParaRPr lang="de-DE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7CAC0D02-1EA2-FDAD-C97B-CD196017E501}"/>
              </a:ext>
            </a:extLst>
          </p:cNvPr>
          <p:cNvSpPr txBox="1"/>
          <p:nvPr/>
        </p:nvSpPr>
        <p:spPr>
          <a:xfrm>
            <a:off x="7607569" y="5369086"/>
            <a:ext cx="3528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Location, Global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, Head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</a:p>
          <a:p>
            <a:r>
              <a:rPr lang="de-DE" dirty="0">
                <a:latin typeface="Consolas" panose="020B0609020204030204" pitchFamily="49" charset="0"/>
                <a:cs typeface="Arial" panose="020B0604020202020204" pitchFamily="34" charset="0"/>
              </a:rPr>
              <a:t>Tail </a:t>
            </a:r>
            <a:r>
              <a:rPr lang="de-DE" dirty="0" err="1">
                <a:latin typeface="Consolas" panose="020B0609020204030204" pitchFamily="49" charset="0"/>
                <a:cs typeface="Arial" panose="020B0604020202020204" pitchFamily="34" charset="0"/>
              </a:rPr>
              <a:t>position</a:t>
            </a:r>
            <a:endParaRPr lang="de-DE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557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B1D8B2B-6036-8DA0-D42D-435C0FFA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06" y="1701980"/>
            <a:ext cx="8934450" cy="159067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1878895-22C5-FB14-4D8C-FA93B096E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340" y="3455194"/>
            <a:ext cx="8734425" cy="67627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B4E61959-D654-71B6-4AA8-8BB1CCA7A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081" y="4424183"/>
            <a:ext cx="87249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995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Symbol" panose="05050102010706020507" pitchFamily="18" charset="2"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Seminar presentation Jonathan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Häßler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83824-0E2B-4B9F-B173-A6B08CE6E4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2800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Results</a:t>
            </a:r>
            <a:endParaRPr kumimoji="0" lang="de-DE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0F5D9C-5A18-B6A9-A666-F74191C3C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353" y="1405309"/>
            <a:ext cx="7383294" cy="453308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C1212FB-245D-FC3A-5B09-8D4E5AB78CB0}"/>
              </a:ext>
            </a:extLst>
          </p:cNvPr>
          <p:cNvSpPr txBox="1"/>
          <p:nvPr/>
        </p:nvSpPr>
        <p:spPr>
          <a:xfrm>
            <a:off x="7466257" y="5938391"/>
            <a:ext cx="39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[R. Wu, O.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Deussen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L. Li (2022)]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948E60-6539-B944-5241-587D5A232059}"/>
              </a:ext>
            </a:extLst>
          </p:cNvPr>
          <p:cNvSpPr txBox="1"/>
          <p:nvPr/>
        </p:nvSpPr>
        <p:spPr>
          <a:xfrm>
            <a:off x="156455" y="5184000"/>
            <a:ext cx="27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vertex</a:t>
            </a: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endParaRPr lang="de-D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CC1D3AB-329C-1ADE-BCCD-1EFE9FEAE8ED}"/>
              </a:ext>
            </a:extLst>
          </p:cNvPr>
          <p:cNvSpPr txBox="1"/>
          <p:nvPr/>
        </p:nvSpPr>
        <p:spPr>
          <a:xfrm>
            <a:off x="156000" y="5485774"/>
            <a:ext cx="27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scaled</a:t>
            </a:r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pose</a:t>
            </a: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endParaRPr lang="de-D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755A51FB-F6C6-AB44-41AA-20AB18F84716}"/>
              </a:ext>
            </a:extLst>
          </p:cNvPr>
          <p:cNvSpPr/>
          <p:nvPr/>
        </p:nvSpPr>
        <p:spPr>
          <a:xfrm>
            <a:off x="9787647" y="2889000"/>
            <a:ext cx="178353" cy="2295000"/>
          </a:xfrm>
          <a:prstGeom prst="rightBrace">
            <a:avLst/>
          </a:prstGeom>
          <a:ln w="19050">
            <a:solidFill>
              <a:srgbClr val="59C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CA7DEB30-232F-67EF-57DD-F1A4BFF76CF2}"/>
              </a:ext>
            </a:extLst>
          </p:cNvPr>
          <p:cNvSpPr/>
          <p:nvPr/>
        </p:nvSpPr>
        <p:spPr>
          <a:xfrm>
            <a:off x="9787646" y="5241234"/>
            <a:ext cx="178353" cy="602400"/>
          </a:xfrm>
          <a:prstGeom prst="rightBrace">
            <a:avLst/>
          </a:prstGeom>
          <a:ln w="19050">
            <a:solidFill>
              <a:srgbClr val="59C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1BEF124-4DED-3114-9F16-4D0027BB18F6}"/>
              </a:ext>
            </a:extLst>
          </p:cNvPr>
          <p:cNvSpPr txBox="1"/>
          <p:nvPr/>
        </p:nvSpPr>
        <p:spPr>
          <a:xfrm>
            <a:off x="9965999" y="3678128"/>
            <a:ext cx="12600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  <a:endParaRPr lang="de-DE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C24A0F2-5119-C92C-32B5-B6C9C1C564F5}"/>
              </a:ext>
            </a:extLst>
          </p:cNvPr>
          <p:cNvSpPr txBox="1"/>
          <p:nvPr/>
        </p:nvSpPr>
        <p:spPr>
          <a:xfrm>
            <a:off x="9965999" y="5191729"/>
            <a:ext cx="197977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Seq.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smoothness</a:t>
            </a: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  <a:endParaRPr lang="de-DE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BF7C1A1-FEB4-BE8B-2C0E-CA422B1295F2}"/>
              </a:ext>
            </a:extLst>
          </p:cNvPr>
          <p:cNvSpPr txBox="1"/>
          <p:nvPr/>
        </p:nvSpPr>
        <p:spPr>
          <a:xfrm>
            <a:off x="156000" y="4717946"/>
            <a:ext cx="27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Pose </a:t>
            </a:r>
            <a:r>
              <a:rPr lang="de-D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endParaRPr lang="de-DE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103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u="sng" dirty="0"/>
              <a:t>The fish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presentation Jonathan </a:t>
            </a:r>
            <a:r>
              <a:rPr lang="en-US" dirty="0" err="1"/>
              <a:t>Häßler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3824-0E2B-4B9F-B173-A6B08CE6E473}" type="slidenum">
              <a:rPr lang="en-US" smtClean="0"/>
              <a:t>50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C2593F-C01E-6566-DE24-2AF47C507513}"/>
              </a:ext>
            </a:extLst>
          </p:cNvPr>
          <p:cNvSpPr txBox="1">
            <a:spLocks/>
          </p:cNvSpPr>
          <p:nvPr/>
        </p:nvSpPr>
        <p:spPr>
          <a:xfrm>
            <a:off x="838200" y="650505"/>
            <a:ext cx="2240902" cy="754804"/>
          </a:xfrm>
          <a:prstGeom prst="rect">
            <a:avLst/>
          </a:prstGeom>
          <a:solidFill>
            <a:srgbClr val="59C7EB"/>
          </a:solidFill>
          <a:ln>
            <a:noFill/>
          </a:ln>
        </p:spPr>
        <p:txBody>
          <a:bodyPr vert="horz" wrap="none" lIns="108000" tIns="72000" rIns="108000" bIns="72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u="none" kern="120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Method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60B0EC-5067-0389-F4E4-FA757AE31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47" t="36772" r="30893" b="47270"/>
          <a:stretch/>
        </p:blipFill>
        <p:spPr>
          <a:xfrm>
            <a:off x="838200" y="2885355"/>
            <a:ext cx="6764695" cy="2403424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5FB3A67-DEC4-B419-4313-8E703AF1C2B8}"/>
              </a:ext>
            </a:extLst>
          </p:cNvPr>
          <p:cNvCxnSpPr>
            <a:cxnSpLocks/>
          </p:cNvCxnSpPr>
          <p:nvPr/>
        </p:nvCxnSpPr>
        <p:spPr>
          <a:xfrm>
            <a:off x="5363549" y="2885355"/>
            <a:ext cx="0" cy="30192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A37E5E-7A61-8173-820E-520DD8DE0F0F}"/>
              </a:ext>
            </a:extLst>
          </p:cNvPr>
          <p:cNvSpPr txBox="1">
            <a:spLocks/>
          </p:cNvSpPr>
          <p:nvPr/>
        </p:nvSpPr>
        <p:spPr>
          <a:xfrm>
            <a:off x="1086824" y="5342606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Head orientation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D25A62F-A786-090A-C269-0A7C71A97664}"/>
              </a:ext>
            </a:extLst>
          </p:cNvPr>
          <p:cNvSpPr txBox="1">
            <a:spLocks/>
          </p:cNvSpPr>
          <p:nvPr/>
        </p:nvSpPr>
        <p:spPr>
          <a:xfrm>
            <a:off x="5442471" y="5318877"/>
            <a:ext cx="2652614" cy="585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Tail orientation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ED377E3-FB97-398F-4A7F-C842EF919C9D}"/>
              </a:ext>
            </a:extLst>
          </p:cNvPr>
          <p:cNvSpPr txBox="1">
            <a:spLocks/>
          </p:cNvSpPr>
          <p:nvPr/>
        </p:nvSpPr>
        <p:spPr>
          <a:xfrm rot="21235340">
            <a:off x="8027786" y="4689595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Bone length</a:t>
            </a:r>
          </a:p>
          <a:p>
            <a:r>
              <a:rPr lang="en-US" dirty="0"/>
              <a:t>(used for LBS)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63D96C0-81D0-3C2A-2E40-F16511B2B438}"/>
              </a:ext>
            </a:extLst>
          </p:cNvPr>
          <p:cNvGrpSpPr/>
          <p:nvPr/>
        </p:nvGrpSpPr>
        <p:grpSpPr>
          <a:xfrm>
            <a:off x="7982968" y="3344723"/>
            <a:ext cx="3066062" cy="1332649"/>
            <a:chOff x="1240403" y="3498050"/>
            <a:chExt cx="3066062" cy="1332649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800C0F9B-716F-9BB0-0F13-E37D0C82E64D}"/>
                </a:ext>
              </a:extLst>
            </p:cNvPr>
            <p:cNvGrpSpPr/>
            <p:nvPr/>
          </p:nvGrpSpPr>
          <p:grpSpPr>
            <a:xfrm rot="21213870">
              <a:off x="1242554" y="3498050"/>
              <a:ext cx="1843233" cy="1332649"/>
              <a:chOff x="1235868" y="3583223"/>
              <a:chExt cx="1843233" cy="1332649"/>
            </a:xfrm>
          </p:grpSpPr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2682A5AC-4E1F-383C-42FC-9112EF931F90}"/>
                  </a:ext>
                </a:extLst>
              </p:cNvPr>
              <p:cNvGrpSpPr/>
              <p:nvPr/>
            </p:nvGrpSpPr>
            <p:grpSpPr>
              <a:xfrm rot="5400000">
                <a:off x="1493165" y="3325926"/>
                <a:ext cx="1328640" cy="1843233"/>
                <a:chOff x="1647825" y="3008684"/>
                <a:chExt cx="1328640" cy="1843233"/>
              </a:xfrm>
            </p:grpSpPr>
            <p:sp>
              <p:nvSpPr>
                <p:cNvPr id="16" name="Gleichschenkliges Dreieck 15">
                  <a:extLst>
                    <a:ext uri="{FF2B5EF4-FFF2-40B4-BE49-F238E27FC236}">
                      <a16:creationId xmlns:a16="http://schemas.microsoft.com/office/drawing/2014/main" id="{F68FD92E-4827-F528-A8A3-6B4CCD387E00}"/>
                    </a:ext>
                  </a:extLst>
                </p:cNvPr>
                <p:cNvSpPr/>
                <p:nvPr/>
              </p:nvSpPr>
              <p:spPr>
                <a:xfrm>
                  <a:off x="1647825" y="3008684"/>
                  <a:ext cx="1190625" cy="1304925"/>
                </a:xfrm>
                <a:prstGeom prst="triangle">
                  <a:avLst/>
                </a:prstGeom>
                <a:solidFill>
                  <a:srgbClr val="59C7E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" name="Gleichschenkliges Dreieck 16">
                  <a:extLst>
                    <a:ext uri="{FF2B5EF4-FFF2-40B4-BE49-F238E27FC236}">
                      <a16:creationId xmlns:a16="http://schemas.microsoft.com/office/drawing/2014/main" id="{C251C352-6469-E9F9-57D7-3C1B3AFD9441}"/>
                    </a:ext>
                  </a:extLst>
                </p:cNvPr>
                <p:cNvSpPr/>
                <p:nvPr/>
              </p:nvSpPr>
              <p:spPr>
                <a:xfrm rot="10800000">
                  <a:off x="1647825" y="4313608"/>
                  <a:ext cx="1190624" cy="538309"/>
                </a:xfrm>
                <a:prstGeom prst="triangle">
                  <a:avLst/>
                </a:prstGeom>
                <a:solidFill>
                  <a:srgbClr val="59C7E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9" name="Gerader Verbinder 18">
                  <a:extLst>
                    <a:ext uri="{FF2B5EF4-FFF2-40B4-BE49-F238E27FC236}">
                      <a16:creationId xmlns:a16="http://schemas.microsoft.com/office/drawing/2014/main" id="{2FDC8D1C-396C-CB81-2333-D0A631F8F0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6465" y="3008684"/>
                  <a:ext cx="0" cy="176858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92C1F95-FAE6-E355-974A-ED93F6F833C9}"/>
                  </a:ext>
                </a:extLst>
              </p:cNvPr>
              <p:cNvCxnSpPr/>
              <p:nvPr/>
            </p:nvCxnSpPr>
            <p:spPr>
              <a:xfrm>
                <a:off x="1310512" y="4773847"/>
                <a:ext cx="0" cy="13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35EB94C6-FF20-F4D5-4C36-8F68C2278530}"/>
                  </a:ext>
                </a:extLst>
              </p:cNvPr>
              <p:cNvCxnSpPr/>
              <p:nvPr/>
            </p:nvCxnSpPr>
            <p:spPr>
              <a:xfrm>
                <a:off x="3075091" y="4777857"/>
                <a:ext cx="0" cy="1380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DEFC9937-C541-7D3E-B51E-509BF748C09C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1240403" y="3838575"/>
              <a:ext cx="3066062" cy="3585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91AF309-CC28-0D25-6579-F61265EBC1A2}"/>
              </a:ext>
            </a:extLst>
          </p:cNvPr>
          <p:cNvSpPr txBox="1">
            <a:spLocks/>
          </p:cNvSpPr>
          <p:nvPr/>
        </p:nvSpPr>
        <p:spPr>
          <a:xfrm rot="21235340">
            <a:off x="9536327" y="3061278"/>
            <a:ext cx="3352994" cy="56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9E0"/>
              </a:buClr>
              <a:buSzTx/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EBCE0"/>
              </a:buClr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Bone orientation</a:t>
            </a:r>
          </a:p>
        </p:txBody>
      </p:sp>
    </p:spTree>
    <p:extLst>
      <p:ext uri="{BB962C8B-B14F-4D97-AF65-F5344CB8AC3E}">
        <p14:creationId xmlns:p14="http://schemas.microsoft.com/office/powerpoint/2010/main" val="125989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2AF3D12-0472-4055-A434-10FF6CD98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201" y="2584173"/>
            <a:ext cx="8891598" cy="925789"/>
          </a:xfrm>
          <a:solidFill>
            <a:srgbClr val="59C7EB"/>
          </a:solidFill>
        </p:spPr>
        <p:txBody>
          <a:bodyPr>
            <a:normAutofit fontScale="90000"/>
          </a:bodyPr>
          <a:lstStyle/>
          <a:p>
            <a:pPr>
              <a:tabLst>
                <a:tab pos="266700" algn="l"/>
              </a:tabLst>
            </a:pPr>
            <a:r>
              <a:rPr lang="en-HK" b="1" dirty="0"/>
              <a:t>Thanks for your attention!</a:t>
            </a:r>
            <a:endParaRPr lang="en-DE" b="1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A6FA7B-1F8A-434B-97C8-56D28CEF4DDC}"/>
              </a:ext>
            </a:extLst>
          </p:cNvPr>
          <p:cNvSpPr txBox="1">
            <a:spLocks/>
          </p:cNvSpPr>
          <p:nvPr/>
        </p:nvSpPr>
        <p:spPr>
          <a:xfrm>
            <a:off x="5016514" y="1869799"/>
            <a:ext cx="2158972" cy="714374"/>
          </a:xfrm>
          <a:prstGeom prst="rect">
            <a:avLst/>
          </a:prstGeom>
          <a:solidFill>
            <a:srgbClr val="92CDE0">
              <a:alpha val="64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br>
              <a:rPr lang="en-US" sz="4800" b="1" dirty="0"/>
            </a:br>
            <a:r>
              <a:rPr lang="en-US" sz="4400" b="1" dirty="0"/>
              <a:t>Part. I</a:t>
            </a:r>
          </a:p>
        </p:txBody>
      </p:sp>
    </p:spTree>
    <p:extLst>
      <p:ext uri="{BB962C8B-B14F-4D97-AF65-F5344CB8AC3E}">
        <p14:creationId xmlns:p14="http://schemas.microsoft.com/office/powerpoint/2010/main" val="2154189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Microsoft Office PowerPoint</Application>
  <PresentationFormat>Breitbild</PresentationFormat>
  <Paragraphs>499</Paragraphs>
  <Slides>51</Slides>
  <Notes>13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51</vt:i4>
      </vt:variant>
    </vt:vector>
  </HeadingPairs>
  <TitlesOfParts>
    <vt:vector size="57" baseType="lpstr">
      <vt:lpstr>Arial</vt:lpstr>
      <vt:lpstr>Calibri</vt:lpstr>
      <vt:lpstr>Consolas</vt:lpstr>
      <vt:lpstr>Symbol</vt:lpstr>
      <vt:lpstr>Wingdings</vt:lpstr>
      <vt:lpstr>Office Theme</vt:lpstr>
      <vt:lpstr>Seminar</vt:lpstr>
      <vt:lpstr>Content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Thanks for your attention!</vt:lpstr>
      <vt:lpstr>References</vt:lpstr>
      <vt:lpstr>Seminar</vt:lpstr>
      <vt:lpstr>PowerPoint-Präsentation</vt:lpstr>
      <vt:lpstr>PowerPoint-Präsentation</vt:lpstr>
      <vt:lpstr>PowerPoint-Präsentation</vt:lpstr>
      <vt:lpstr>PowerPoint-Präsentation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Trends in Computer Graphics 2021</dc:title>
  <dc:creator>KC Kwan</dc:creator>
  <cp:lastModifiedBy>Jonathan Vonhaessler</cp:lastModifiedBy>
  <cp:revision>589</cp:revision>
  <dcterms:created xsi:type="dcterms:W3CDTF">2021-04-14T10:03:47Z</dcterms:created>
  <dcterms:modified xsi:type="dcterms:W3CDTF">2024-02-11T10:56:49Z</dcterms:modified>
</cp:coreProperties>
</file>